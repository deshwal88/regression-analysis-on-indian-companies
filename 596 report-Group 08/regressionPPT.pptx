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75" r:id="rId16"/>
    <p:sldId id="269" r:id="rId17"/>
    <p:sldId id="270" r:id="rId18"/>
    <p:sldId id="271" r:id="rId19"/>
    <p:sldId id="272" r:id="rId20"/>
    <p:sldId id="273" r:id="rId21"/>
  </p:sldIdLst>
  <p:sldSz cx="18288000" cy="10287000"/>
  <p:notesSz cx="6858000" cy="9144000"/>
  <p:embeddedFontLst>
    <p:embeddedFont>
      <p:font typeface="Oswald" panose="00000500000000000000" pitchFamily="2" charset="0"/>
      <p:regular r:id="rId22"/>
    </p:embeddedFont>
    <p:embeddedFont>
      <p:font typeface="Oswald Bold" panose="020B0604020202020204" charset="0"/>
      <p:regular r:id="rId23"/>
    </p:embeddedFont>
    <p:embeddedFont>
      <p:font typeface="Poppins" panose="00000500000000000000" pitchFamily="2" charset="0"/>
      <p:regular r:id="rId24"/>
    </p:embeddedFont>
    <p:embeddedFont>
      <p:font typeface="Poppins Bold" panose="000008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4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30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9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e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95491" y="1210179"/>
            <a:ext cx="7763809" cy="7650469"/>
          </a:xfrm>
          <a:custGeom>
            <a:avLst/>
            <a:gdLst/>
            <a:ahLst/>
            <a:cxnLst/>
            <a:rect l="l" t="t" r="r" b="b"/>
            <a:pathLst>
              <a:path w="7763809" h="765046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1418346" y="2546981"/>
            <a:ext cx="4321642" cy="6189852"/>
          </a:xfrm>
          <a:custGeom>
            <a:avLst/>
            <a:gdLst/>
            <a:ahLst/>
            <a:cxnLst/>
            <a:rect l="l" t="t" r="r" b="b"/>
            <a:pathLst>
              <a:path w="4321642" h="6189852">
                <a:moveTo>
                  <a:pt x="0" y="0"/>
                </a:moveTo>
                <a:lnTo>
                  <a:pt x="4321642" y="0"/>
                </a:lnTo>
                <a:lnTo>
                  <a:pt x="4321642" y="6189852"/>
                </a:lnTo>
                <a:lnTo>
                  <a:pt x="0" y="6189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43279" y="2713808"/>
            <a:ext cx="9475067" cy="304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4"/>
              </a:lnSpc>
            </a:pPr>
            <a:r>
              <a:rPr lang="en-US" sz="5699" b="1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DE</a:t>
            </a:r>
            <a:r>
              <a:rPr lang="en-US" sz="5699" b="1" u="none" strike="noStrike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TERMINANTS OF SALARY PACKAGES IN INDIAN COMPANIES: A MULTIPLE REGRESSION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3279" y="6985588"/>
            <a:ext cx="9100628" cy="186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Group Members: </a:t>
            </a:r>
          </a:p>
          <a:p>
            <a:pPr marL="461716" lvl="1" indent="-230858" algn="l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Anmol Sai Ramchandran </a:t>
            </a:r>
          </a:p>
          <a:p>
            <a:pPr marL="461716" lvl="1" indent="-230858" algn="l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Devang Chaturvedi</a:t>
            </a:r>
          </a:p>
          <a:p>
            <a:pPr marL="461716" lvl="1" indent="-230858" algn="l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Kanishk Deshwal</a:t>
            </a:r>
          </a:p>
          <a:p>
            <a:pPr marL="461716" lvl="1" indent="-230858" algn="l">
              <a:lnSpc>
                <a:spcPts val="2993"/>
              </a:lnSpc>
              <a:buFont typeface="Arial"/>
              <a:buChar char="•"/>
            </a:pPr>
            <a:r>
              <a:rPr lang="en-US" sz="2138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Shreyas Pantangi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2406899" y="3213509"/>
            <a:ext cx="13474202" cy="5601781"/>
            <a:chOff x="0" y="0"/>
            <a:chExt cx="3548761" cy="1475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48761" cy="1475366"/>
            </a:xfrm>
            <a:custGeom>
              <a:avLst/>
              <a:gdLst/>
              <a:ahLst/>
              <a:cxnLst/>
              <a:rect l="l" t="t" r="r" b="b"/>
              <a:pathLst>
                <a:path w="3548761" h="1475366">
                  <a:moveTo>
                    <a:pt x="29303" y="0"/>
                  </a:moveTo>
                  <a:lnTo>
                    <a:pt x="3519458" y="0"/>
                  </a:lnTo>
                  <a:cubicBezTo>
                    <a:pt x="3527229" y="0"/>
                    <a:pt x="3534683" y="3087"/>
                    <a:pt x="3540178" y="8583"/>
                  </a:cubicBezTo>
                  <a:cubicBezTo>
                    <a:pt x="3545673" y="14078"/>
                    <a:pt x="3548761" y="21532"/>
                    <a:pt x="3548761" y="29303"/>
                  </a:cubicBezTo>
                  <a:lnTo>
                    <a:pt x="3548761" y="1446063"/>
                  </a:lnTo>
                  <a:cubicBezTo>
                    <a:pt x="3548761" y="1453835"/>
                    <a:pt x="3545673" y="1461288"/>
                    <a:pt x="3540178" y="1466783"/>
                  </a:cubicBezTo>
                  <a:cubicBezTo>
                    <a:pt x="3534683" y="1472279"/>
                    <a:pt x="3527229" y="1475366"/>
                    <a:pt x="3519458" y="1475366"/>
                  </a:cubicBezTo>
                  <a:lnTo>
                    <a:pt x="29303" y="1475366"/>
                  </a:lnTo>
                  <a:cubicBezTo>
                    <a:pt x="21532" y="1475366"/>
                    <a:pt x="14078" y="1472279"/>
                    <a:pt x="8583" y="1466783"/>
                  </a:cubicBezTo>
                  <a:cubicBezTo>
                    <a:pt x="3087" y="1461288"/>
                    <a:pt x="0" y="1453835"/>
                    <a:pt x="0" y="1446063"/>
                  </a:cubicBezTo>
                  <a:lnTo>
                    <a:pt x="0" y="29303"/>
                  </a:lnTo>
                  <a:cubicBezTo>
                    <a:pt x="0" y="21532"/>
                    <a:pt x="3087" y="14078"/>
                    <a:pt x="8583" y="8583"/>
                  </a:cubicBezTo>
                  <a:cubicBezTo>
                    <a:pt x="14078" y="3087"/>
                    <a:pt x="21532" y="0"/>
                    <a:pt x="293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548761" cy="1532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76591" y="3724084"/>
            <a:ext cx="5751935" cy="4580632"/>
          </a:xfrm>
          <a:custGeom>
            <a:avLst/>
            <a:gdLst/>
            <a:ahLst/>
            <a:cxnLst/>
            <a:rect l="l" t="t" r="r" b="b"/>
            <a:pathLst>
              <a:path w="5751935" h="4580632">
                <a:moveTo>
                  <a:pt x="0" y="0"/>
                </a:moveTo>
                <a:lnTo>
                  <a:pt x="5751935" y="0"/>
                </a:lnTo>
                <a:lnTo>
                  <a:pt x="5751935" y="4580632"/>
                </a:lnTo>
                <a:lnTo>
                  <a:pt x="0" y="4580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 flipH="1" flipV="1">
            <a:off x="9134475" y="3213509"/>
            <a:ext cx="9525" cy="5601781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295549" y="1382464"/>
            <a:ext cx="9696902" cy="115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02402" y="4126545"/>
            <a:ext cx="5763110" cy="295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000" b="1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Understand which company attributes significantly influence salary packages.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Build an interpretable multiple regression model.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Validate assumptions using diagnostic plots.</a:t>
            </a:r>
          </a:p>
          <a:p>
            <a:pPr algn="just">
              <a:lnSpc>
                <a:spcPts val="2940"/>
              </a:lnSpc>
            </a:pPr>
            <a:endParaRPr lang="en-US" sz="2000" dirty="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368430" y="1829003"/>
            <a:ext cx="9890870" cy="7429297"/>
            <a:chOff x="0" y="0"/>
            <a:chExt cx="2605003" cy="1956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05003" cy="1956687"/>
            </a:xfrm>
            <a:custGeom>
              <a:avLst/>
              <a:gdLst/>
              <a:ahLst/>
              <a:cxnLst/>
              <a:rect l="l" t="t" r="r" b="b"/>
              <a:pathLst>
                <a:path w="2605003" h="1956687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14276" y="2466765"/>
            <a:ext cx="7588549" cy="90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0"/>
              </a:lnSpc>
              <a:spcBef>
                <a:spcPct val="0"/>
              </a:spcBef>
            </a:pP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Dataset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14276" y="3694345"/>
            <a:ext cx="7411003" cy="534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Scraped Data Includes:</a:t>
            </a:r>
          </a:p>
          <a:p>
            <a:pPr algn="just">
              <a:lnSpc>
                <a:spcPts val="2660"/>
              </a:lnSpc>
            </a:pPr>
            <a:endParaRPr lang="en-US" sz="19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Salary Package (dependent variable)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Company Rating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Number of Reviews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Years Since Establishment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Number of Branches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Type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Headquarters Location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Total Employee Count</a:t>
            </a:r>
          </a:p>
          <a:p>
            <a:pPr algn="just">
              <a:lnSpc>
                <a:spcPts val="2660"/>
              </a:lnSpc>
            </a:pPr>
            <a:endParaRPr lang="en-US" sz="19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  <a:p>
            <a:pPr algn="just">
              <a:lnSpc>
                <a:spcPts val="2660"/>
              </a:lnSpc>
            </a:pPr>
            <a:endParaRPr lang="en-US" sz="19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10,000+ companies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Mixture of numeric + categorical variables</a:t>
            </a:r>
          </a:p>
          <a:p>
            <a:pPr marL="410211" lvl="1" indent="-205106" algn="just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Highly skewed variables → might require transformation.</a:t>
            </a:r>
          </a:p>
        </p:txBody>
      </p:sp>
      <p:sp>
        <p:nvSpPr>
          <p:cNvPr id="8" name="Freeform 8"/>
          <p:cNvSpPr/>
          <p:nvPr/>
        </p:nvSpPr>
        <p:spPr>
          <a:xfrm>
            <a:off x="892967" y="3107900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8" y="0"/>
                </a:lnTo>
                <a:lnTo>
                  <a:pt x="6017178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028700" y="2153885"/>
            <a:ext cx="5745712" cy="6556310"/>
          </a:xfrm>
          <a:custGeom>
            <a:avLst/>
            <a:gdLst/>
            <a:ahLst/>
            <a:cxnLst/>
            <a:rect l="l" t="t" r="r" b="b"/>
            <a:pathLst>
              <a:path w="5745712" h="6556310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005339" y="6293632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568345" y="1182705"/>
            <a:ext cx="17151310" cy="7921590"/>
            <a:chOff x="0" y="0"/>
            <a:chExt cx="4517218" cy="2086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7218" cy="2086345"/>
            </a:xfrm>
            <a:custGeom>
              <a:avLst/>
              <a:gdLst/>
              <a:ahLst/>
              <a:cxnLst/>
              <a:rect l="l" t="t" r="r" b="b"/>
              <a:pathLst>
                <a:path w="4517218" h="2086345">
                  <a:moveTo>
                    <a:pt x="15347" y="0"/>
                  </a:moveTo>
                  <a:lnTo>
                    <a:pt x="4501871" y="0"/>
                  </a:lnTo>
                  <a:cubicBezTo>
                    <a:pt x="4510346" y="0"/>
                    <a:pt x="4517218" y="6871"/>
                    <a:pt x="4517218" y="15347"/>
                  </a:cubicBezTo>
                  <a:lnTo>
                    <a:pt x="4517218" y="2070997"/>
                  </a:lnTo>
                  <a:cubicBezTo>
                    <a:pt x="4517218" y="2075068"/>
                    <a:pt x="4515601" y="2078972"/>
                    <a:pt x="4512723" y="2081850"/>
                  </a:cubicBezTo>
                  <a:cubicBezTo>
                    <a:pt x="4509844" y="2084728"/>
                    <a:pt x="4505941" y="2086345"/>
                    <a:pt x="4501871" y="2086345"/>
                  </a:cubicBezTo>
                  <a:lnTo>
                    <a:pt x="15347" y="2086345"/>
                  </a:lnTo>
                  <a:cubicBezTo>
                    <a:pt x="11277" y="2086345"/>
                    <a:pt x="7373" y="2084728"/>
                    <a:pt x="4495" y="2081850"/>
                  </a:cubicBezTo>
                  <a:cubicBezTo>
                    <a:pt x="1617" y="2078972"/>
                    <a:pt x="0" y="2075068"/>
                    <a:pt x="0" y="2070997"/>
                  </a:cubicBezTo>
                  <a:lnTo>
                    <a:pt x="0" y="15347"/>
                  </a:lnTo>
                  <a:cubicBezTo>
                    <a:pt x="0" y="11277"/>
                    <a:pt x="1617" y="7373"/>
                    <a:pt x="4495" y="4495"/>
                  </a:cubicBezTo>
                  <a:cubicBezTo>
                    <a:pt x="7373" y="1617"/>
                    <a:pt x="11277" y="0"/>
                    <a:pt x="153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17218" cy="2143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91733" y="2753236"/>
            <a:ext cx="5698776" cy="5657330"/>
          </a:xfrm>
          <a:custGeom>
            <a:avLst/>
            <a:gdLst/>
            <a:ahLst/>
            <a:cxnLst/>
            <a:rect l="l" t="t" r="r" b="b"/>
            <a:pathLst>
              <a:path w="5698776" h="5657330">
                <a:moveTo>
                  <a:pt x="0" y="0"/>
                </a:moveTo>
                <a:lnTo>
                  <a:pt x="5698775" y="0"/>
                </a:lnTo>
                <a:lnTo>
                  <a:pt x="5698775" y="5657330"/>
                </a:lnTo>
                <a:lnTo>
                  <a:pt x="0" y="5657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271784" y="4638471"/>
            <a:ext cx="825775" cy="8257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32198" y="4790833"/>
            <a:ext cx="504945" cy="521050"/>
          </a:xfrm>
          <a:custGeom>
            <a:avLst/>
            <a:gdLst/>
            <a:ahLst/>
            <a:cxnLst/>
            <a:rect l="l" t="t" r="r" b="b"/>
            <a:pathLst>
              <a:path w="504945" h="521050">
                <a:moveTo>
                  <a:pt x="0" y="0"/>
                </a:moveTo>
                <a:lnTo>
                  <a:pt x="504946" y="0"/>
                </a:lnTo>
                <a:lnTo>
                  <a:pt x="504946" y="521050"/>
                </a:lnTo>
                <a:lnTo>
                  <a:pt x="0" y="5210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295549" y="173172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Data Cleaning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97091" y="4463666"/>
            <a:ext cx="7411003" cy="158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 Conversion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Converted scraped text fields to numeric (e.g., ratings, reviews, salary).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Removed commas, symbols, and extra text.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97091" y="5802412"/>
            <a:ext cx="7411003" cy="158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Scaling / Transformation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Variables on very different scales were normalized or log-transformed.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Reduced skewness and improved model stability.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397091" y="7139722"/>
            <a:ext cx="7411003" cy="158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Categorical Handling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Encoded Industry and HQ using dummy variables.</a:t>
            </a:r>
          </a:p>
          <a:p>
            <a:pPr marL="388622" lvl="1" indent="-194311" algn="just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Removed redundant levels and lumped rare categories into “Other.”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271784" y="5977217"/>
            <a:ext cx="825775" cy="82577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61948" y="6145551"/>
            <a:ext cx="604097" cy="487671"/>
          </a:xfrm>
          <a:custGeom>
            <a:avLst/>
            <a:gdLst/>
            <a:ahLst/>
            <a:cxnLst/>
            <a:rect l="l" t="t" r="r" b="b"/>
            <a:pathLst>
              <a:path w="604097" h="487671">
                <a:moveTo>
                  <a:pt x="0" y="0"/>
                </a:moveTo>
                <a:lnTo>
                  <a:pt x="604098" y="0"/>
                </a:lnTo>
                <a:lnTo>
                  <a:pt x="604098" y="487671"/>
                </a:lnTo>
                <a:lnTo>
                  <a:pt x="0" y="4876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271784" y="7314527"/>
            <a:ext cx="825775" cy="82577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03296" y="7496176"/>
            <a:ext cx="562750" cy="462478"/>
          </a:xfrm>
          <a:custGeom>
            <a:avLst/>
            <a:gdLst/>
            <a:ahLst/>
            <a:cxnLst/>
            <a:rect l="l" t="t" r="r" b="b"/>
            <a:pathLst>
              <a:path w="562750" h="462478">
                <a:moveTo>
                  <a:pt x="0" y="0"/>
                </a:moveTo>
                <a:lnTo>
                  <a:pt x="562750" y="0"/>
                </a:lnTo>
                <a:lnTo>
                  <a:pt x="562750" y="462477"/>
                </a:lnTo>
                <a:lnTo>
                  <a:pt x="0" y="4624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142376" y="6679494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267650" y="231998"/>
            <a:ext cx="17746278" cy="9871758"/>
            <a:chOff x="0" y="0"/>
            <a:chExt cx="4673917" cy="259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73917" cy="2599969"/>
            </a:xfrm>
            <a:custGeom>
              <a:avLst/>
              <a:gdLst/>
              <a:ahLst/>
              <a:cxnLst/>
              <a:rect l="l" t="t" r="r" b="b"/>
              <a:pathLst>
                <a:path w="4673917" h="2599969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6883" y="1908484"/>
            <a:ext cx="11050969" cy="7735678"/>
          </a:xfrm>
          <a:custGeom>
            <a:avLst/>
            <a:gdLst/>
            <a:ahLst/>
            <a:cxnLst/>
            <a:rect l="l" t="t" r="r" b="b"/>
            <a:pathLst>
              <a:path w="11050969" h="7735678">
                <a:moveTo>
                  <a:pt x="0" y="0"/>
                </a:moveTo>
                <a:lnTo>
                  <a:pt x="11050968" y="0"/>
                </a:lnTo>
                <a:lnTo>
                  <a:pt x="11050968" y="7735678"/>
                </a:lnTo>
                <a:lnTo>
                  <a:pt x="0" y="7735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292338" y="37710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Histogram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5104" y="1997191"/>
            <a:ext cx="5444196" cy="393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Observations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Package, Reviews, and Employees show strong right-skewness → many small companies, few very large ones.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Rating is tightly concentrated between 3–4, with low variance.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Years Old shows most companies are relatively young, with a long tail of older firms.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Branches is moderately skewed; majority have 1–3 branches.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78200" y="7886700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267650" y="231998"/>
            <a:ext cx="17746278" cy="9871758"/>
            <a:chOff x="0" y="0"/>
            <a:chExt cx="4673917" cy="259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73917" cy="2599969"/>
            </a:xfrm>
            <a:custGeom>
              <a:avLst/>
              <a:gdLst/>
              <a:ahLst/>
              <a:cxnLst/>
              <a:rect l="l" t="t" r="r" b="b"/>
              <a:pathLst>
                <a:path w="4673917" h="2599969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24982" y="2063866"/>
            <a:ext cx="11390123" cy="6848311"/>
          </a:xfrm>
          <a:custGeom>
            <a:avLst/>
            <a:gdLst/>
            <a:ahLst/>
            <a:cxnLst/>
            <a:rect l="l" t="t" r="r" b="b"/>
            <a:pathLst>
              <a:path w="11390123" h="6848311">
                <a:moveTo>
                  <a:pt x="0" y="0"/>
                </a:moveTo>
                <a:lnTo>
                  <a:pt x="11390122" y="0"/>
                </a:lnTo>
                <a:lnTo>
                  <a:pt x="11390122" y="6848311"/>
                </a:lnTo>
                <a:lnTo>
                  <a:pt x="0" y="6848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292338" y="37710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Boxplots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5104" y="1982106"/>
            <a:ext cx="5444196" cy="7522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Key Observations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Bengaluru Offers the Highest Packages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Highest median salary among all HQ locations.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Also shows the greatest spread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Chennai and Mumbai Follow Next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Moderate median packages.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More consistent, less volatile compared to Bengaluru.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New Delhi &amp; Other Locations Have</a:t>
            </a: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Lower Packages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Lower median compensation.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Smaller spread suggests fewer high-paying firms.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Pune Shows High Variability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companies offer very competitive packages.</a:t>
            </a: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Overall median slightly higher than Delhi/Other.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005339" y="6293632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7" y="0"/>
                </a:lnTo>
                <a:lnTo>
                  <a:pt x="6017177" y="5929336"/>
                </a:lnTo>
                <a:lnTo>
                  <a:pt x="0" y="59293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267650" y="231998"/>
            <a:ext cx="17746278" cy="9871758"/>
            <a:chOff x="0" y="0"/>
            <a:chExt cx="4673917" cy="259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673917" cy="2599969"/>
            </a:xfrm>
            <a:custGeom>
              <a:avLst/>
              <a:gdLst/>
              <a:ahLst/>
              <a:cxnLst/>
              <a:rect l="l" t="t" r="r" b="b"/>
              <a:pathLst>
                <a:path w="4673917" h="2599969">
                  <a:moveTo>
                    <a:pt x="14833" y="0"/>
                  </a:moveTo>
                  <a:lnTo>
                    <a:pt x="4659084" y="0"/>
                  </a:lnTo>
                  <a:cubicBezTo>
                    <a:pt x="4663018" y="0"/>
                    <a:pt x="4666791" y="1563"/>
                    <a:pt x="4669573" y="4344"/>
                  </a:cubicBezTo>
                  <a:cubicBezTo>
                    <a:pt x="4672354" y="7126"/>
                    <a:pt x="4673917" y="10899"/>
                    <a:pt x="4673917" y="14833"/>
                  </a:cubicBezTo>
                  <a:lnTo>
                    <a:pt x="4673917" y="2585136"/>
                  </a:lnTo>
                  <a:cubicBezTo>
                    <a:pt x="4673917" y="2593328"/>
                    <a:pt x="4667276" y="2599969"/>
                    <a:pt x="4659084" y="2599969"/>
                  </a:cubicBezTo>
                  <a:lnTo>
                    <a:pt x="14833" y="2599969"/>
                  </a:lnTo>
                  <a:cubicBezTo>
                    <a:pt x="10899" y="2599969"/>
                    <a:pt x="7126" y="2598406"/>
                    <a:pt x="4344" y="2595625"/>
                  </a:cubicBezTo>
                  <a:cubicBezTo>
                    <a:pt x="1563" y="2592843"/>
                    <a:pt x="0" y="2589070"/>
                    <a:pt x="0" y="2585136"/>
                  </a:cubicBezTo>
                  <a:lnTo>
                    <a:pt x="0" y="14833"/>
                  </a:lnTo>
                  <a:cubicBezTo>
                    <a:pt x="0" y="6641"/>
                    <a:pt x="6641" y="0"/>
                    <a:pt x="1483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673917" cy="2657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87973" y="2048781"/>
            <a:ext cx="11001683" cy="7536153"/>
          </a:xfrm>
          <a:custGeom>
            <a:avLst/>
            <a:gdLst/>
            <a:ahLst/>
            <a:cxnLst/>
            <a:rect l="l" t="t" r="r" b="b"/>
            <a:pathLst>
              <a:path w="11001683" h="7536153">
                <a:moveTo>
                  <a:pt x="0" y="0"/>
                </a:moveTo>
                <a:lnTo>
                  <a:pt x="11001683" y="0"/>
                </a:lnTo>
                <a:lnTo>
                  <a:pt x="11001683" y="7536153"/>
                </a:lnTo>
                <a:lnTo>
                  <a:pt x="0" y="7536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292338" y="377104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Boxplots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5104" y="3060379"/>
            <a:ext cx="5444196" cy="389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Industries differ noticeably in average salary levels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Financial Services, Internet, Software Product → higher packages.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Education &amp; Training, Construction, Healthcare → lower packages.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industries (e.g., Consulting, Other) show wide variability.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Log scale helps reveal differences more clearly.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467170" y="-3194657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4388608" y="6714885"/>
            <a:ext cx="6637037" cy="6540146"/>
          </a:xfrm>
          <a:custGeom>
            <a:avLst/>
            <a:gdLst/>
            <a:ahLst/>
            <a:cxnLst/>
            <a:rect l="l" t="t" r="r" b="b"/>
            <a:pathLst>
              <a:path w="6637037" h="6540146">
                <a:moveTo>
                  <a:pt x="0" y="0"/>
                </a:moveTo>
                <a:lnTo>
                  <a:pt x="6637037" y="0"/>
                </a:lnTo>
                <a:lnTo>
                  <a:pt x="6637037" y="6540146"/>
                </a:lnTo>
                <a:lnTo>
                  <a:pt x="0" y="654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813433" y="1028700"/>
            <a:ext cx="16661135" cy="8229600"/>
            <a:chOff x="0" y="0"/>
            <a:chExt cx="438811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88118" cy="2167467"/>
            </a:xfrm>
            <a:custGeom>
              <a:avLst/>
              <a:gdLst/>
              <a:ahLst/>
              <a:cxnLst/>
              <a:rect l="l" t="t" r="r" b="b"/>
              <a:pathLst>
                <a:path w="4388118" h="2167467">
                  <a:moveTo>
                    <a:pt x="23698" y="0"/>
                  </a:moveTo>
                  <a:lnTo>
                    <a:pt x="4364420" y="0"/>
                  </a:lnTo>
                  <a:cubicBezTo>
                    <a:pt x="4370705" y="0"/>
                    <a:pt x="4376732" y="2497"/>
                    <a:pt x="4381177" y="6941"/>
                  </a:cubicBezTo>
                  <a:cubicBezTo>
                    <a:pt x="4385621" y="11385"/>
                    <a:pt x="4388118" y="17413"/>
                    <a:pt x="4388118" y="23698"/>
                  </a:cubicBezTo>
                  <a:lnTo>
                    <a:pt x="4388118" y="2143769"/>
                  </a:lnTo>
                  <a:cubicBezTo>
                    <a:pt x="4388118" y="2156857"/>
                    <a:pt x="4377508" y="2167467"/>
                    <a:pt x="4364420" y="2167467"/>
                  </a:cubicBezTo>
                  <a:lnTo>
                    <a:pt x="23698" y="2167467"/>
                  </a:lnTo>
                  <a:cubicBezTo>
                    <a:pt x="17413" y="2167467"/>
                    <a:pt x="11385" y="2164970"/>
                    <a:pt x="6941" y="2160526"/>
                  </a:cubicBezTo>
                  <a:cubicBezTo>
                    <a:pt x="2497" y="2156081"/>
                    <a:pt x="0" y="2150054"/>
                    <a:pt x="0" y="2143769"/>
                  </a:cubicBezTo>
                  <a:lnTo>
                    <a:pt x="0" y="23698"/>
                  </a:lnTo>
                  <a:cubicBezTo>
                    <a:pt x="0" y="10610"/>
                    <a:pt x="10610" y="0"/>
                    <a:pt x="236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88118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95549" y="1481728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Hypothesis Testing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00759" y="3737078"/>
            <a:ext cx="6643241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Is the </a:t>
            </a:r>
            <a:r>
              <a:rPr lang="en-US" sz="2700" b="1" u="none" strike="noStrike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company rating different from 3.5?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98157" y="4907169"/>
            <a:ext cx="6300223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Mean rating = 3.5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Mean rating ≠ 3.5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00759" y="6206799"/>
            <a:ext cx="5735814" cy="149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Do Bangalore and non Bangalore companies differ in package?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98157" y="7910788"/>
            <a:ext cx="6300223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μ_Bangalore = μ_NonBangalore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μ_Bangalore ≠ μ_NonBangalore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79302" y="3727553"/>
            <a:ext cx="6031229" cy="100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Does average package differ by industry?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44805" y="4802814"/>
            <a:ext cx="6300223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All industries have the same mean package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At least one industry differs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479302" y="6206799"/>
            <a:ext cx="6031229" cy="100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Are industry and headquarters location independent?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44805" y="7345878"/>
            <a:ext cx="6300223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H₀: Industry and HQ are independent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H₁: They are dependent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548774" y="3813278"/>
            <a:ext cx="699655" cy="69965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48774" y="6292524"/>
            <a:ext cx="699655" cy="69965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92902" y="3813278"/>
            <a:ext cx="699655" cy="69965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92902" y="6292524"/>
            <a:ext cx="699655" cy="69965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517902" y="386513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8475" y="6344384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52603" y="3865138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2603" y="6344384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589991" y="1280898"/>
            <a:ext cx="9890870" cy="7429297"/>
            <a:chOff x="0" y="0"/>
            <a:chExt cx="2605003" cy="1956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05003" cy="1956687"/>
            </a:xfrm>
            <a:custGeom>
              <a:avLst/>
              <a:gdLst/>
              <a:ahLst/>
              <a:cxnLst/>
              <a:rect l="l" t="t" r="r" b="b"/>
              <a:pathLst>
                <a:path w="2605003" h="1956687">
                  <a:moveTo>
                    <a:pt x="26613" y="0"/>
                  </a:moveTo>
                  <a:lnTo>
                    <a:pt x="2578390" y="0"/>
                  </a:lnTo>
                  <a:cubicBezTo>
                    <a:pt x="2593088" y="0"/>
                    <a:pt x="2605003" y="11915"/>
                    <a:pt x="2605003" y="26613"/>
                  </a:cubicBezTo>
                  <a:lnTo>
                    <a:pt x="2605003" y="1930074"/>
                  </a:lnTo>
                  <a:cubicBezTo>
                    <a:pt x="2605003" y="1937133"/>
                    <a:pt x="2602199" y="1943902"/>
                    <a:pt x="2597208" y="1948893"/>
                  </a:cubicBezTo>
                  <a:cubicBezTo>
                    <a:pt x="2592217" y="1953883"/>
                    <a:pt x="2585448" y="1956687"/>
                    <a:pt x="2578390" y="1956687"/>
                  </a:cubicBezTo>
                  <a:lnTo>
                    <a:pt x="26613" y="1956687"/>
                  </a:lnTo>
                  <a:cubicBezTo>
                    <a:pt x="11915" y="1956687"/>
                    <a:pt x="0" y="1944772"/>
                    <a:pt x="0" y="1930074"/>
                  </a:cubicBezTo>
                  <a:lnTo>
                    <a:pt x="0" y="26613"/>
                  </a:lnTo>
                  <a:cubicBezTo>
                    <a:pt x="0" y="11915"/>
                    <a:pt x="11915" y="0"/>
                    <a:pt x="26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605003" cy="2013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88130" y="2287235"/>
            <a:ext cx="7588549" cy="176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0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Key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 Findings From Hypothesis Testing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88130" y="4305967"/>
            <a:ext cx="7411003" cy="40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Average company ratings are significantly higher than 3.5.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Bangalore companies offer higher salary packages than companies in other cities.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has a strong and significant impact on package levels.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Industry and HQ location are closely associated (certain industries cluster in certain cities).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Company age shows almost no relationship with the salary package — effect is negligible.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CD414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92967" y="3107900"/>
            <a:ext cx="6017177" cy="5929335"/>
          </a:xfrm>
          <a:custGeom>
            <a:avLst/>
            <a:gdLst/>
            <a:ahLst/>
            <a:cxnLst/>
            <a:rect l="l" t="t" r="r" b="b"/>
            <a:pathLst>
              <a:path w="6017177" h="5929335">
                <a:moveTo>
                  <a:pt x="0" y="0"/>
                </a:moveTo>
                <a:lnTo>
                  <a:pt x="6017178" y="0"/>
                </a:lnTo>
                <a:lnTo>
                  <a:pt x="6017178" y="5929335"/>
                </a:lnTo>
                <a:lnTo>
                  <a:pt x="0" y="5929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028700" y="2153885"/>
            <a:ext cx="5745712" cy="6556310"/>
          </a:xfrm>
          <a:custGeom>
            <a:avLst/>
            <a:gdLst/>
            <a:ahLst/>
            <a:cxnLst/>
            <a:rect l="l" t="t" r="r" b="b"/>
            <a:pathLst>
              <a:path w="5745712" h="6556310">
                <a:moveTo>
                  <a:pt x="0" y="0"/>
                </a:moveTo>
                <a:lnTo>
                  <a:pt x="5745712" y="0"/>
                </a:lnTo>
                <a:lnTo>
                  <a:pt x="5745712" y="6556310"/>
                </a:lnTo>
                <a:lnTo>
                  <a:pt x="0" y="6556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-1861792" y="-1069654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8"/>
                </a:lnTo>
                <a:lnTo>
                  <a:pt x="0" y="419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5776679" y="7686691"/>
            <a:ext cx="4258882" cy="4196709"/>
          </a:xfrm>
          <a:custGeom>
            <a:avLst/>
            <a:gdLst/>
            <a:ahLst/>
            <a:cxnLst/>
            <a:rect l="l" t="t" r="r" b="b"/>
            <a:pathLst>
              <a:path w="4258882" h="4196709">
                <a:moveTo>
                  <a:pt x="0" y="0"/>
                </a:moveTo>
                <a:lnTo>
                  <a:pt x="4258883" y="0"/>
                </a:lnTo>
                <a:lnTo>
                  <a:pt x="4258883" y="4196709"/>
                </a:lnTo>
                <a:lnTo>
                  <a:pt x="0" y="4196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554240" y="2750345"/>
            <a:ext cx="17285615" cy="7173779"/>
            <a:chOff x="0" y="0"/>
            <a:chExt cx="4552590" cy="1889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52590" cy="1889390"/>
            </a:xfrm>
            <a:custGeom>
              <a:avLst/>
              <a:gdLst/>
              <a:ahLst/>
              <a:cxnLst/>
              <a:rect l="l" t="t" r="r" b="b"/>
              <a:pathLst>
                <a:path w="4552590" h="18893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322846" y="2750345"/>
            <a:ext cx="0" cy="7173779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510754" y="1371900"/>
            <a:ext cx="15266493" cy="95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45"/>
              </a:lnSpc>
            </a:pPr>
            <a:r>
              <a:rPr lang="en-US" sz="5818" dirty="0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Residuals vs Fitted (Before Transformation)</a:t>
            </a:r>
          </a:p>
        </p:txBody>
      </p:sp>
      <p:sp>
        <p:nvSpPr>
          <p:cNvPr id="9" name="Freeform 9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64953" y="3010652"/>
            <a:ext cx="10214994" cy="6304110"/>
          </a:xfrm>
          <a:custGeom>
            <a:avLst/>
            <a:gdLst/>
            <a:ahLst/>
            <a:cxnLst/>
            <a:rect l="l" t="t" r="r" b="b"/>
            <a:pathLst>
              <a:path w="10214994" h="6304110">
                <a:moveTo>
                  <a:pt x="0" y="0"/>
                </a:moveTo>
                <a:lnTo>
                  <a:pt x="10214993" y="0"/>
                </a:lnTo>
                <a:lnTo>
                  <a:pt x="10214993" y="6304111"/>
                </a:lnTo>
                <a:lnTo>
                  <a:pt x="0" y="6304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69932" y="4339451"/>
            <a:ext cx="5763110" cy="401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Aft>
                <a:spcPts val="1800"/>
              </a:spcAft>
            </a:pPr>
            <a:r>
              <a:rPr lang="en-US" sz="2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marL="342900" indent="-342900" algn="just">
              <a:lnSpc>
                <a:spcPts val="294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Clear funnel / cone-shaped pattern, with residual spread increasing at higher fitted values.</a:t>
            </a:r>
          </a:p>
          <a:p>
            <a:pPr marL="342900" indent="-342900" algn="just">
              <a:lnSpc>
                <a:spcPts val="294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Indicates a clear case of heteroscedasticity.</a:t>
            </a:r>
          </a:p>
          <a:p>
            <a:pPr marL="342900" indent="-342900" algn="just">
              <a:lnSpc>
                <a:spcPts val="294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Some firms (e.g., Teleperformance, </a:t>
            </a:r>
            <a:r>
              <a:rPr lang="en-US" sz="2000" dirty="0" err="1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infosys</a:t>
            </a:r>
            <a:r>
              <a:rPr lang="en-US" sz="20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) lie far from the regression line → potential outliers.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554240" y="2750345"/>
            <a:ext cx="17285615" cy="7173779"/>
            <a:chOff x="0" y="0"/>
            <a:chExt cx="4552590" cy="1889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52590" cy="1889390"/>
            </a:xfrm>
            <a:custGeom>
              <a:avLst/>
              <a:gdLst/>
              <a:ahLst/>
              <a:cxnLst/>
              <a:rect l="l" t="t" r="r" b="b"/>
              <a:pathLst>
                <a:path w="4552590" h="18893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322846" y="2750345"/>
            <a:ext cx="0" cy="7173779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563801" y="1585966"/>
            <a:ext cx="15266493" cy="82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5"/>
              </a:lnSpc>
            </a:pPr>
            <a:r>
              <a:rPr lang="en-US" sz="4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Residuals vs Fitted (After Log Transformation per Box-Cox λ ≈ 0)</a:t>
            </a:r>
          </a:p>
        </p:txBody>
      </p:sp>
      <p:sp>
        <p:nvSpPr>
          <p:cNvPr id="9" name="Freeform 9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31617" y="3040781"/>
            <a:ext cx="10447324" cy="6447492"/>
          </a:xfrm>
          <a:custGeom>
            <a:avLst/>
            <a:gdLst/>
            <a:ahLst/>
            <a:cxnLst/>
            <a:rect l="l" t="t" r="r" b="b"/>
            <a:pathLst>
              <a:path w="10447324" h="6447492">
                <a:moveTo>
                  <a:pt x="0" y="0"/>
                </a:moveTo>
                <a:lnTo>
                  <a:pt x="10447325" y="0"/>
                </a:lnTo>
                <a:lnTo>
                  <a:pt x="10447325" y="6447491"/>
                </a:lnTo>
                <a:lnTo>
                  <a:pt x="0" y="6447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15018" y="5263090"/>
            <a:ext cx="5872937" cy="1931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5"/>
              </a:lnSpc>
              <a:spcAft>
                <a:spcPts val="1800"/>
              </a:spcAft>
            </a:pPr>
            <a:r>
              <a:rPr lang="en-US" sz="2089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Spread of residuals is now much more uniform across fitted values.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Heteroscedasticity visibly reduced.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F7A9-B641-3B13-9C4A-7FCF5D23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68F4A2-9F4A-00F7-78EB-106094EA09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9C9FABB-3716-BF8E-C1B8-B71179C2270C}"/>
              </a:ext>
            </a:extLst>
          </p:cNvPr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04FFCBF-4DE3-1A2B-9C62-790E3DEB44A2}"/>
              </a:ext>
            </a:extLst>
          </p:cNvPr>
          <p:cNvGrpSpPr/>
          <p:nvPr/>
        </p:nvGrpSpPr>
        <p:grpSpPr>
          <a:xfrm>
            <a:off x="554240" y="2750345"/>
            <a:ext cx="17285615" cy="7173779"/>
            <a:chOff x="0" y="0"/>
            <a:chExt cx="4552590" cy="188939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FECC650-2F96-66F6-0245-FE03138CD771}"/>
                </a:ext>
              </a:extLst>
            </p:cNvPr>
            <p:cNvSpPr/>
            <p:nvPr/>
          </p:nvSpPr>
          <p:spPr>
            <a:xfrm>
              <a:off x="0" y="0"/>
              <a:ext cx="4552590" cy="1889390"/>
            </a:xfrm>
            <a:custGeom>
              <a:avLst/>
              <a:gdLst/>
              <a:ahLst/>
              <a:cxnLst/>
              <a:rect l="l" t="t" r="r" b="b"/>
              <a:pathLst>
                <a:path w="4552590" h="18893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943674-5EFD-1CBB-821C-3DA004D091E5}"/>
                </a:ext>
              </a:extLst>
            </p:cNvPr>
            <p:cNvSpPr txBox="1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4C793BA1-DC13-602F-3E64-A207985AE064}"/>
              </a:ext>
            </a:extLst>
          </p:cNvPr>
          <p:cNvSpPr/>
          <p:nvPr/>
        </p:nvSpPr>
        <p:spPr>
          <a:xfrm flipV="1">
            <a:off x="11322846" y="2750345"/>
            <a:ext cx="0" cy="7173779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A3AE3A-B048-10D5-62DA-BD10D6D6DC91}"/>
              </a:ext>
            </a:extLst>
          </p:cNvPr>
          <p:cNvSpPr txBox="1"/>
          <p:nvPr/>
        </p:nvSpPr>
        <p:spPr>
          <a:xfrm>
            <a:off x="1563801" y="1585966"/>
            <a:ext cx="15266493" cy="7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5"/>
              </a:lnSpc>
            </a:pPr>
            <a:r>
              <a:rPr lang="en-US" sz="4818" dirty="0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Outlier Detection: Jackknife Residuals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6C9605C-8903-0F9F-C6D6-7851AEAC1BA5}"/>
              </a:ext>
            </a:extLst>
          </p:cNvPr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95C95EF-D91B-9BC7-ED7B-99C38A1DA9EC}"/>
              </a:ext>
            </a:extLst>
          </p:cNvPr>
          <p:cNvSpPr txBox="1"/>
          <p:nvPr/>
        </p:nvSpPr>
        <p:spPr>
          <a:xfrm>
            <a:off x="11644882" y="4705245"/>
            <a:ext cx="5872937" cy="3046988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just">
              <a:lnSpc>
                <a:spcPts val="2925"/>
              </a:lnSpc>
              <a:spcAft>
                <a:spcPts val="1800"/>
              </a:spcAft>
            </a:pPr>
            <a:r>
              <a:rPr lang="en-US" sz="2089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A large set of firms exceeded the cutoff, including TCS, Accenture, Cognizant, HDFC Bank, Infosys, ICICI, Amazon, Deloitte, PwC, Vodafone Idea, BYJU’s, WNS, Tata Motors, etc.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Many outliers ≠ many influential points.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F0CEEE-C154-879B-3372-464D1B2C6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181" y="4590242"/>
            <a:ext cx="10104520" cy="32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69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554240" y="2750345"/>
            <a:ext cx="17285615" cy="7173779"/>
            <a:chOff x="0" y="0"/>
            <a:chExt cx="4552590" cy="1889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52590" cy="1889390"/>
            </a:xfrm>
            <a:custGeom>
              <a:avLst/>
              <a:gdLst/>
              <a:ahLst/>
              <a:cxnLst/>
              <a:rect l="l" t="t" r="r" b="b"/>
              <a:pathLst>
                <a:path w="4552590" h="18893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322846" y="2750345"/>
            <a:ext cx="0" cy="7173779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563801" y="1464081"/>
            <a:ext cx="15266493" cy="9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5"/>
              </a:lnSpc>
            </a:pPr>
            <a:r>
              <a:rPr lang="en-US" sz="53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Cook’s Distance (Influence Plot)</a:t>
            </a:r>
          </a:p>
        </p:txBody>
      </p:sp>
      <p:sp>
        <p:nvSpPr>
          <p:cNvPr id="9" name="Freeform 9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94998" y="3194450"/>
            <a:ext cx="10184949" cy="6285568"/>
          </a:xfrm>
          <a:custGeom>
            <a:avLst/>
            <a:gdLst/>
            <a:ahLst/>
            <a:cxnLst/>
            <a:rect l="l" t="t" r="r" b="b"/>
            <a:pathLst>
              <a:path w="10184949" h="6285568">
                <a:moveTo>
                  <a:pt x="0" y="0"/>
                </a:moveTo>
                <a:lnTo>
                  <a:pt x="10184948" y="0"/>
                </a:lnTo>
                <a:lnTo>
                  <a:pt x="10184948" y="6285568"/>
                </a:lnTo>
                <a:lnTo>
                  <a:pt x="0" y="6285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15018" y="5077141"/>
            <a:ext cx="5872937" cy="230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5"/>
              </a:lnSpc>
              <a:spcAft>
                <a:spcPts val="1800"/>
              </a:spcAft>
            </a:pPr>
            <a:r>
              <a:rPr lang="en-US" sz="2089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observation: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One clear influential company: TCS (far beyond the reference line).</a:t>
            </a:r>
          </a:p>
          <a:p>
            <a:pPr marL="451227" lvl="1" indent="-225613" algn="just">
              <a:lnSpc>
                <a:spcPts val="2925"/>
              </a:lnSpc>
              <a:spcAft>
                <a:spcPts val="1800"/>
              </a:spcAft>
              <a:buFont typeface="Arial"/>
              <a:buChar char="•"/>
            </a:pPr>
            <a:r>
              <a:rPr lang="en-US" sz="2089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Remaining points lie near 0 → not influential, even if residual outliers.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724954" y="7290735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7" y="0"/>
                </a:lnTo>
                <a:lnTo>
                  <a:pt x="6081307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3755111" y="-2564499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7" y="0"/>
                </a:lnTo>
                <a:lnTo>
                  <a:pt x="6081307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522392" y="126886"/>
            <a:ext cx="17243215" cy="10066024"/>
            <a:chOff x="0" y="0"/>
            <a:chExt cx="4541423" cy="2651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1423" cy="2651134"/>
            </a:xfrm>
            <a:custGeom>
              <a:avLst/>
              <a:gdLst/>
              <a:ahLst/>
              <a:cxnLst/>
              <a:rect l="l" t="t" r="r" b="b"/>
              <a:pathLst>
                <a:path w="4541423" h="2651134">
                  <a:moveTo>
                    <a:pt x="15265" y="0"/>
                  </a:moveTo>
                  <a:lnTo>
                    <a:pt x="4526157" y="0"/>
                  </a:lnTo>
                  <a:cubicBezTo>
                    <a:pt x="4534588" y="0"/>
                    <a:pt x="4541423" y="6835"/>
                    <a:pt x="4541423" y="15265"/>
                  </a:cubicBezTo>
                  <a:lnTo>
                    <a:pt x="4541423" y="2635869"/>
                  </a:lnTo>
                  <a:cubicBezTo>
                    <a:pt x="4541423" y="2644299"/>
                    <a:pt x="4534588" y="2651134"/>
                    <a:pt x="4526157" y="2651134"/>
                  </a:cubicBezTo>
                  <a:lnTo>
                    <a:pt x="15265" y="2651134"/>
                  </a:lnTo>
                  <a:cubicBezTo>
                    <a:pt x="6835" y="2651134"/>
                    <a:pt x="0" y="2644299"/>
                    <a:pt x="0" y="2635869"/>
                  </a:cubicBezTo>
                  <a:lnTo>
                    <a:pt x="0" y="15265"/>
                  </a:lnTo>
                  <a:cubicBezTo>
                    <a:pt x="0" y="6835"/>
                    <a:pt x="6835" y="0"/>
                    <a:pt x="152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41423" cy="2708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72173" y="1682904"/>
            <a:ext cx="699655" cy="6996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31873" y="5143500"/>
            <a:ext cx="699655" cy="69965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79801" y="9354087"/>
            <a:ext cx="699655" cy="69965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3006410" y="8402346"/>
            <a:ext cx="4479061" cy="832111"/>
          </a:xfrm>
          <a:custGeom>
            <a:avLst/>
            <a:gdLst/>
            <a:ahLst/>
            <a:cxnLst/>
            <a:rect l="l" t="t" r="r" b="b"/>
            <a:pathLst>
              <a:path w="4479061" h="832111">
                <a:moveTo>
                  <a:pt x="0" y="0"/>
                </a:moveTo>
                <a:lnTo>
                  <a:pt x="4479062" y="0"/>
                </a:lnTo>
                <a:lnTo>
                  <a:pt x="4479062" y="832111"/>
                </a:lnTo>
                <a:lnTo>
                  <a:pt x="0" y="8321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5" r="-1774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2971828" y="6119380"/>
            <a:ext cx="5997556" cy="626531"/>
          </a:xfrm>
          <a:custGeom>
            <a:avLst/>
            <a:gdLst/>
            <a:ahLst/>
            <a:cxnLst/>
            <a:rect l="l" t="t" r="r" b="b"/>
            <a:pathLst>
              <a:path w="5997556" h="626531">
                <a:moveTo>
                  <a:pt x="0" y="0"/>
                </a:moveTo>
                <a:lnTo>
                  <a:pt x="5997556" y="0"/>
                </a:lnTo>
                <a:lnTo>
                  <a:pt x="5997556" y="626531"/>
                </a:lnTo>
                <a:lnTo>
                  <a:pt x="0" y="626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0892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2151274" y="2649259"/>
            <a:ext cx="10905176" cy="2230130"/>
          </a:xfrm>
          <a:custGeom>
            <a:avLst/>
            <a:gdLst/>
            <a:ahLst/>
            <a:cxnLst/>
            <a:rect l="l" t="t" r="r" b="b"/>
            <a:pathLst>
              <a:path w="10905176" h="2230130">
                <a:moveTo>
                  <a:pt x="0" y="0"/>
                </a:moveTo>
                <a:lnTo>
                  <a:pt x="10905176" y="0"/>
                </a:lnTo>
                <a:lnTo>
                  <a:pt x="10905176" y="2230130"/>
                </a:lnTo>
                <a:lnTo>
                  <a:pt x="0" y="2230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01" b="-31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3006410" y="7713374"/>
            <a:ext cx="5638472" cy="688972"/>
          </a:xfrm>
          <a:custGeom>
            <a:avLst/>
            <a:gdLst/>
            <a:ahLst/>
            <a:cxnLst/>
            <a:rect l="l" t="t" r="r" b="b"/>
            <a:pathLst>
              <a:path w="5638472" h="688972">
                <a:moveTo>
                  <a:pt x="0" y="0"/>
                </a:moveTo>
                <a:lnTo>
                  <a:pt x="5638472" y="0"/>
                </a:lnTo>
                <a:lnTo>
                  <a:pt x="5638472" y="688972"/>
                </a:lnTo>
                <a:lnTo>
                  <a:pt x="0" y="6889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74" t="-19354" r="-1180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4948892" y="382180"/>
            <a:ext cx="8390217" cy="994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4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Ch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ecking Multicollinearity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64199" y="1816514"/>
            <a:ext cx="643074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Correlation Matrix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31873" y="1734764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4299" y="5291566"/>
            <a:ext cx="6555400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Condition Number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91573" y="5195360"/>
            <a:ext cx="780254" cy="5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71827" y="9376572"/>
            <a:ext cx="10513178" cy="5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 NO SIgnificant sign of multicollinearity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39502" y="9405947"/>
            <a:ext cx="780254" cy="47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id="32" name="Group 11">
            <a:extLst>
              <a:ext uri="{FF2B5EF4-FFF2-40B4-BE49-F238E27FC236}">
                <a16:creationId xmlns:a16="http://schemas.microsoft.com/office/drawing/2014/main" id="{51224A8F-CEDD-9720-C52B-0CD47319553C}"/>
              </a:ext>
            </a:extLst>
          </p:cNvPr>
          <p:cNvGrpSpPr/>
          <p:nvPr/>
        </p:nvGrpSpPr>
        <p:grpSpPr>
          <a:xfrm>
            <a:off x="2206581" y="6889434"/>
            <a:ext cx="699655" cy="699655"/>
            <a:chOff x="0" y="0"/>
            <a:chExt cx="812800" cy="812800"/>
          </a:xfrm>
        </p:grpSpPr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4C4025B8-1FD9-EE16-DAF4-C07079EC4C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96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EEF5A765-8E36-CF08-2991-49C25C2939B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5" name="TextBox 25">
            <a:extLst>
              <a:ext uri="{FF2B5EF4-FFF2-40B4-BE49-F238E27FC236}">
                <a16:creationId xmlns:a16="http://schemas.microsoft.com/office/drawing/2014/main" id="{AB4E28B7-28BE-888B-B662-FE06A7AA0839}"/>
              </a:ext>
            </a:extLst>
          </p:cNvPr>
          <p:cNvSpPr txBox="1"/>
          <p:nvPr/>
        </p:nvSpPr>
        <p:spPr>
          <a:xfrm>
            <a:off x="2166281" y="6941294"/>
            <a:ext cx="780254" cy="47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3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496783AE-92C1-16B6-92CB-CC2EB91346A0}"/>
              </a:ext>
            </a:extLst>
          </p:cNvPr>
          <p:cNvSpPr txBox="1"/>
          <p:nvPr/>
        </p:nvSpPr>
        <p:spPr>
          <a:xfrm>
            <a:off x="3001869" y="7017637"/>
            <a:ext cx="6555400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dirty="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VIF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BF5E-2BF2-896B-F1A1-56AF806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7CAC2B-6BE1-2CA4-6DDD-6877B5BA075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31C4DC-B785-2B8E-05C7-8DE3AD27BBBC}"/>
              </a:ext>
            </a:extLst>
          </p:cNvPr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7BDCF85-4AD7-51B4-F200-9560677AFA60}"/>
              </a:ext>
            </a:extLst>
          </p:cNvPr>
          <p:cNvGrpSpPr/>
          <p:nvPr/>
        </p:nvGrpSpPr>
        <p:grpSpPr>
          <a:xfrm>
            <a:off x="554240" y="2750345"/>
            <a:ext cx="17285615" cy="7173779"/>
            <a:chOff x="0" y="0"/>
            <a:chExt cx="4552590" cy="188939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85D0FA3-5FBE-0740-3026-94E9FF2FF293}"/>
                </a:ext>
              </a:extLst>
            </p:cNvPr>
            <p:cNvSpPr/>
            <p:nvPr/>
          </p:nvSpPr>
          <p:spPr>
            <a:xfrm>
              <a:off x="0" y="0"/>
              <a:ext cx="4552590" cy="1889390"/>
            </a:xfrm>
            <a:custGeom>
              <a:avLst/>
              <a:gdLst/>
              <a:ahLst/>
              <a:cxnLst/>
              <a:rect l="l" t="t" r="r" b="b"/>
              <a:pathLst>
                <a:path w="4552590" h="1889390">
                  <a:moveTo>
                    <a:pt x="22842" y="0"/>
                  </a:moveTo>
                  <a:lnTo>
                    <a:pt x="4529748" y="0"/>
                  </a:lnTo>
                  <a:cubicBezTo>
                    <a:pt x="4535806" y="0"/>
                    <a:pt x="4541616" y="2407"/>
                    <a:pt x="4545900" y="6690"/>
                  </a:cubicBezTo>
                  <a:cubicBezTo>
                    <a:pt x="4550184" y="10974"/>
                    <a:pt x="4552590" y="16784"/>
                    <a:pt x="4552590" y="22842"/>
                  </a:cubicBezTo>
                  <a:lnTo>
                    <a:pt x="4552590" y="1866548"/>
                  </a:lnTo>
                  <a:cubicBezTo>
                    <a:pt x="4552590" y="1879164"/>
                    <a:pt x="4542363" y="1889390"/>
                    <a:pt x="4529748" y="1889390"/>
                  </a:cubicBezTo>
                  <a:lnTo>
                    <a:pt x="22842" y="1889390"/>
                  </a:lnTo>
                  <a:cubicBezTo>
                    <a:pt x="16784" y="1889390"/>
                    <a:pt x="10974" y="1886984"/>
                    <a:pt x="6690" y="1882700"/>
                  </a:cubicBezTo>
                  <a:cubicBezTo>
                    <a:pt x="2407" y="1878416"/>
                    <a:pt x="0" y="1872606"/>
                    <a:pt x="0" y="1866548"/>
                  </a:cubicBezTo>
                  <a:lnTo>
                    <a:pt x="0" y="22842"/>
                  </a:lnTo>
                  <a:cubicBezTo>
                    <a:pt x="0" y="16784"/>
                    <a:pt x="2407" y="10974"/>
                    <a:pt x="6690" y="6690"/>
                  </a:cubicBezTo>
                  <a:cubicBezTo>
                    <a:pt x="10974" y="2407"/>
                    <a:pt x="16784" y="0"/>
                    <a:pt x="2284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E223684-5CD7-2F6D-0105-BE9CFB7E5228}"/>
                </a:ext>
              </a:extLst>
            </p:cNvPr>
            <p:cNvSpPr txBox="1"/>
            <p:nvPr/>
          </p:nvSpPr>
          <p:spPr>
            <a:xfrm>
              <a:off x="0" y="-57150"/>
              <a:ext cx="4552590" cy="194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1A36956B-F690-71B3-ADCC-903DC8CC2612}"/>
              </a:ext>
            </a:extLst>
          </p:cNvPr>
          <p:cNvSpPr/>
          <p:nvPr/>
        </p:nvSpPr>
        <p:spPr>
          <a:xfrm flipV="1">
            <a:off x="11322846" y="2750345"/>
            <a:ext cx="0" cy="7173779"/>
          </a:xfrm>
          <a:prstGeom prst="line">
            <a:avLst/>
          </a:prstGeom>
          <a:ln w="19050" cap="flat">
            <a:solidFill>
              <a:srgbClr val="CD41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3FE3684-5E8F-C613-102D-52787BFE59EF}"/>
              </a:ext>
            </a:extLst>
          </p:cNvPr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5F535D-D045-CBE6-6704-A8E90EE03433}"/>
              </a:ext>
            </a:extLst>
          </p:cNvPr>
          <p:cNvSpPr txBox="1"/>
          <p:nvPr/>
        </p:nvSpPr>
        <p:spPr>
          <a:xfrm>
            <a:off x="11644882" y="6017465"/>
            <a:ext cx="5872937" cy="42255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just">
              <a:lnSpc>
                <a:spcPts val="2925"/>
              </a:lnSpc>
              <a:spcAft>
                <a:spcPts val="1800"/>
              </a:spcAft>
            </a:pPr>
            <a:r>
              <a:rPr lang="en-US" sz="4000" b="1" dirty="0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Final Model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16BE88-431A-A3ED-174A-C281F97D1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184297"/>
            <a:ext cx="614076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1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652759" y="2137240"/>
            <a:ext cx="6000216" cy="4712897"/>
          </a:xfrm>
          <a:custGeom>
            <a:avLst/>
            <a:gdLst/>
            <a:ahLst/>
            <a:cxnLst/>
            <a:rect l="l" t="t" r="r" b="b"/>
            <a:pathLst>
              <a:path w="6000216" h="4712897">
                <a:moveTo>
                  <a:pt x="0" y="0"/>
                </a:moveTo>
                <a:lnTo>
                  <a:pt x="6000216" y="0"/>
                </a:lnTo>
                <a:lnTo>
                  <a:pt x="6000216" y="4712897"/>
                </a:lnTo>
                <a:lnTo>
                  <a:pt x="0" y="4712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244418" y="3261842"/>
            <a:ext cx="9080242" cy="3588295"/>
            <a:chOff x="0" y="0"/>
            <a:chExt cx="2391504" cy="9450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1504" cy="945065"/>
            </a:xfrm>
            <a:custGeom>
              <a:avLst/>
              <a:gdLst/>
              <a:ahLst/>
              <a:cxnLst/>
              <a:rect l="l" t="t" r="r" b="b"/>
              <a:pathLst>
                <a:path w="2391504" h="945065">
                  <a:moveTo>
                    <a:pt x="28989" y="0"/>
                  </a:moveTo>
                  <a:lnTo>
                    <a:pt x="2362515" y="0"/>
                  </a:lnTo>
                  <a:cubicBezTo>
                    <a:pt x="2378525" y="0"/>
                    <a:pt x="2391504" y="12979"/>
                    <a:pt x="2391504" y="28989"/>
                  </a:cubicBezTo>
                  <a:lnTo>
                    <a:pt x="2391504" y="916077"/>
                  </a:lnTo>
                  <a:cubicBezTo>
                    <a:pt x="2391504" y="923765"/>
                    <a:pt x="2388450" y="931138"/>
                    <a:pt x="2383013" y="936575"/>
                  </a:cubicBezTo>
                  <a:cubicBezTo>
                    <a:pt x="2377577" y="942011"/>
                    <a:pt x="2370204" y="945065"/>
                    <a:pt x="2362515" y="945065"/>
                  </a:cubicBezTo>
                  <a:lnTo>
                    <a:pt x="28989" y="945065"/>
                  </a:lnTo>
                  <a:cubicBezTo>
                    <a:pt x="21300" y="945065"/>
                    <a:pt x="13927" y="942011"/>
                    <a:pt x="8491" y="936575"/>
                  </a:cubicBezTo>
                  <a:cubicBezTo>
                    <a:pt x="3054" y="931138"/>
                    <a:pt x="0" y="923765"/>
                    <a:pt x="0" y="916077"/>
                  </a:cubicBezTo>
                  <a:lnTo>
                    <a:pt x="0" y="28989"/>
                  </a:lnTo>
                  <a:cubicBezTo>
                    <a:pt x="0" y="21300"/>
                    <a:pt x="3054" y="13927"/>
                    <a:pt x="8491" y="8491"/>
                  </a:cubicBezTo>
                  <a:cubicBezTo>
                    <a:pt x="13927" y="3054"/>
                    <a:pt x="21300" y="0"/>
                    <a:pt x="289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391504" cy="1002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35025" y="3853133"/>
            <a:ext cx="1209314" cy="1218173"/>
          </a:xfrm>
          <a:custGeom>
            <a:avLst/>
            <a:gdLst/>
            <a:ahLst/>
            <a:cxnLst/>
            <a:rect l="l" t="t" r="r" b="b"/>
            <a:pathLst>
              <a:path w="1209314" h="1218173">
                <a:moveTo>
                  <a:pt x="0" y="0"/>
                </a:moveTo>
                <a:lnTo>
                  <a:pt x="1209314" y="0"/>
                </a:lnTo>
                <a:lnTo>
                  <a:pt x="1209314" y="1218173"/>
                </a:lnTo>
                <a:lnTo>
                  <a:pt x="0" y="1218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-2542620" y="8101649"/>
            <a:ext cx="4782302" cy="4712487"/>
          </a:xfrm>
          <a:custGeom>
            <a:avLst/>
            <a:gdLst/>
            <a:ahLst/>
            <a:cxnLst/>
            <a:rect l="l" t="t" r="r" b="b"/>
            <a:pathLst>
              <a:path w="4782302" h="4712487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033328" y="-2007387"/>
            <a:ext cx="4782302" cy="4712487"/>
          </a:xfrm>
          <a:custGeom>
            <a:avLst/>
            <a:gdLst/>
            <a:ahLst/>
            <a:cxnLst/>
            <a:rect l="l" t="t" r="r" b="b"/>
            <a:pathLst>
              <a:path w="4782302" h="4712487">
                <a:moveTo>
                  <a:pt x="0" y="0"/>
                </a:moveTo>
                <a:lnTo>
                  <a:pt x="4782302" y="0"/>
                </a:lnTo>
                <a:lnTo>
                  <a:pt x="4782302" y="4712487"/>
                </a:lnTo>
                <a:lnTo>
                  <a:pt x="0" y="47124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244418" y="7253969"/>
            <a:ext cx="15384606" cy="847680"/>
          </a:xfrm>
          <a:custGeom>
            <a:avLst/>
            <a:gdLst/>
            <a:ahLst/>
            <a:cxnLst/>
            <a:rect l="l" t="t" r="r" b="b"/>
            <a:pathLst>
              <a:path w="15384606" h="847680">
                <a:moveTo>
                  <a:pt x="0" y="0"/>
                </a:moveTo>
                <a:lnTo>
                  <a:pt x="15384605" y="0"/>
                </a:lnTo>
                <a:lnTo>
                  <a:pt x="15384605" y="847680"/>
                </a:lnTo>
                <a:lnTo>
                  <a:pt x="0" y="8476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947" r="-31383" b="-2178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3955965" y="599936"/>
            <a:ext cx="9696902" cy="116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Model</a:t>
            </a:r>
            <a:r>
              <a:rPr lang="en-US" sz="6818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 Selection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56527" y="3539610"/>
            <a:ext cx="6384045" cy="297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(BIC-Based Hybrid Approach)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Used a hybrid stepwise method guided by BIC to choose the best predictors.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BIC recommended removing Total Employees and Years Old (low contribution).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CD4146"/>
                </a:solidFill>
                <a:latin typeface="Poppins"/>
                <a:ea typeface="Poppins"/>
                <a:cs typeface="Poppins"/>
                <a:sym typeface="Poppins"/>
              </a:rPr>
              <a:t>Removing them caused no significant drop in Adjusted R², so the simpler model was preferred.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95491" y="1210179"/>
            <a:ext cx="7763809" cy="7650469"/>
          </a:xfrm>
          <a:custGeom>
            <a:avLst/>
            <a:gdLst/>
            <a:ahLst/>
            <a:cxnLst/>
            <a:rect l="l" t="t" r="r" b="b"/>
            <a:pathLst>
              <a:path w="7763809" h="7650469">
                <a:moveTo>
                  <a:pt x="0" y="0"/>
                </a:moveTo>
                <a:lnTo>
                  <a:pt x="7763809" y="0"/>
                </a:lnTo>
                <a:lnTo>
                  <a:pt x="7763809" y="7650469"/>
                </a:lnTo>
                <a:lnTo>
                  <a:pt x="0" y="765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832498" y="4556774"/>
            <a:ext cx="9475067" cy="131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58"/>
              </a:lnSpc>
            </a:pPr>
            <a:r>
              <a:rPr lang="en-US" sz="9579" b="1">
                <a:solidFill>
                  <a:srgbClr val="CD4146"/>
                </a:solidFill>
                <a:latin typeface="Oswald Bold"/>
                <a:ea typeface="Oswald Bold"/>
                <a:cs typeface="Oswald Bold"/>
                <a:sym typeface="Oswald Bold"/>
              </a:rPr>
              <a:t>PREDICTION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0527644" y="2667529"/>
            <a:ext cx="5699502" cy="4735768"/>
          </a:xfrm>
          <a:custGeom>
            <a:avLst/>
            <a:gdLst/>
            <a:ahLst/>
            <a:cxnLst/>
            <a:rect l="l" t="t" r="r" b="b"/>
            <a:pathLst>
              <a:path w="5699502" h="4735768">
                <a:moveTo>
                  <a:pt x="0" y="0"/>
                </a:moveTo>
                <a:lnTo>
                  <a:pt x="5699503" y="0"/>
                </a:lnTo>
                <a:lnTo>
                  <a:pt x="5699503" y="4735768"/>
                </a:lnTo>
                <a:lnTo>
                  <a:pt x="0" y="473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175767" y="1853812"/>
            <a:ext cx="14310289" cy="6271920"/>
          </a:xfrm>
          <a:custGeom>
            <a:avLst/>
            <a:gdLst/>
            <a:ahLst/>
            <a:cxnLst/>
            <a:rect l="l" t="t" r="r" b="b"/>
            <a:pathLst>
              <a:path w="14310289" h="6271920">
                <a:moveTo>
                  <a:pt x="0" y="0"/>
                </a:moveTo>
                <a:lnTo>
                  <a:pt x="14310289" y="0"/>
                </a:lnTo>
                <a:lnTo>
                  <a:pt x="14310289" y="6271921"/>
                </a:lnTo>
                <a:lnTo>
                  <a:pt x="0" y="62719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1744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295549" y="383241"/>
            <a:ext cx="9696902" cy="115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Prediction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76591" y="8382908"/>
            <a:ext cx="11634472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A Bengaluru-based IT Services firm with moderate ratings and strong presence is expected to offer around ₹73,000 per month.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551487" y="796189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7"/>
                </a:lnTo>
                <a:lnTo>
                  <a:pt x="0" y="5336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2639035" y="-2668283"/>
            <a:ext cx="5415627" cy="5336567"/>
          </a:xfrm>
          <a:custGeom>
            <a:avLst/>
            <a:gdLst/>
            <a:ahLst/>
            <a:cxnLst/>
            <a:rect l="l" t="t" r="r" b="b"/>
            <a:pathLst>
              <a:path w="5415627" h="5336567">
                <a:moveTo>
                  <a:pt x="0" y="0"/>
                </a:moveTo>
                <a:lnTo>
                  <a:pt x="5415626" y="0"/>
                </a:lnTo>
                <a:lnTo>
                  <a:pt x="5415626" y="5336566"/>
                </a:lnTo>
                <a:lnTo>
                  <a:pt x="0" y="533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249161" y="2050044"/>
            <a:ext cx="14123896" cy="5911849"/>
          </a:xfrm>
          <a:custGeom>
            <a:avLst/>
            <a:gdLst/>
            <a:ahLst/>
            <a:cxnLst/>
            <a:rect l="l" t="t" r="r" b="b"/>
            <a:pathLst>
              <a:path w="14123896" h="5911849">
                <a:moveTo>
                  <a:pt x="0" y="0"/>
                </a:moveTo>
                <a:lnTo>
                  <a:pt x="14123896" y="0"/>
                </a:lnTo>
                <a:lnTo>
                  <a:pt x="14123896" y="5911849"/>
                </a:lnTo>
                <a:lnTo>
                  <a:pt x="0" y="591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27" r="-14461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295549" y="383241"/>
            <a:ext cx="9696902" cy="115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8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Prediction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9161" y="8409568"/>
            <a:ext cx="1163447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CD4146"/>
                </a:solidFill>
                <a:latin typeface="Poppins Bold"/>
                <a:ea typeface="Poppins Bold"/>
                <a:cs typeface="Poppins Bold"/>
                <a:sym typeface="Poppins Bold"/>
              </a:rPr>
              <a:t>Even with the same company size and rating, firms in Education &amp; Training offer lower salaries compared to tech or consulting industries.</a:t>
            </a:r>
          </a:p>
          <a:p>
            <a:pPr algn="just">
              <a:lnSpc>
                <a:spcPts val="2940"/>
              </a:lnSpc>
            </a:pPr>
            <a:endParaRPr lang="en-US" sz="2100" b="1">
              <a:solidFill>
                <a:srgbClr val="CD414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704117" y="8148954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29"/>
                </a:lnTo>
                <a:lnTo>
                  <a:pt x="0" y="599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6218" y="0"/>
                  </a:moveTo>
                  <a:lnTo>
                    <a:pt x="4258508" y="0"/>
                  </a:lnTo>
                  <a:cubicBezTo>
                    <a:pt x="4267465" y="0"/>
                    <a:pt x="4274726" y="7261"/>
                    <a:pt x="4274726" y="16218"/>
                  </a:cubicBezTo>
                  <a:lnTo>
                    <a:pt x="4274726" y="2151249"/>
                  </a:lnTo>
                  <a:cubicBezTo>
                    <a:pt x="4274726" y="2160206"/>
                    <a:pt x="4267465" y="2167467"/>
                    <a:pt x="4258508" y="2167467"/>
                  </a:cubicBezTo>
                  <a:lnTo>
                    <a:pt x="16218" y="2167467"/>
                  </a:lnTo>
                  <a:cubicBezTo>
                    <a:pt x="7261" y="2167467"/>
                    <a:pt x="0" y="2160206"/>
                    <a:pt x="0" y="2151249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CD4146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75491" y="3003203"/>
            <a:ext cx="9001576" cy="243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2"/>
              </a:lnSpc>
              <a:spcBef>
                <a:spcPct val="0"/>
              </a:spcBef>
            </a:pPr>
            <a:r>
              <a:rPr lang="en-US" sz="14223" u="none" strike="noStrike">
                <a:solidFill>
                  <a:srgbClr val="CD4146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0165512" y="3279428"/>
            <a:ext cx="5690498" cy="4573091"/>
          </a:xfrm>
          <a:custGeom>
            <a:avLst/>
            <a:gdLst/>
            <a:ahLst/>
            <a:cxnLst/>
            <a:rect l="l" t="t" r="r" b="b"/>
            <a:pathLst>
              <a:path w="5690498" h="4573091">
                <a:moveTo>
                  <a:pt x="0" y="0"/>
                </a:moveTo>
                <a:lnTo>
                  <a:pt x="5690498" y="0"/>
                </a:lnTo>
                <a:lnTo>
                  <a:pt x="5690498" y="4573091"/>
                </a:lnTo>
                <a:lnTo>
                  <a:pt x="0" y="4573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4526952" y="-4360440"/>
            <a:ext cx="6081308" cy="5992529"/>
          </a:xfrm>
          <a:custGeom>
            <a:avLst/>
            <a:gdLst/>
            <a:ahLst/>
            <a:cxnLst/>
            <a:rect l="l" t="t" r="r" b="b"/>
            <a:pathLst>
              <a:path w="6081308" h="5992529">
                <a:moveTo>
                  <a:pt x="0" y="0"/>
                </a:moveTo>
                <a:lnTo>
                  <a:pt x="6081308" y="0"/>
                </a:lnTo>
                <a:lnTo>
                  <a:pt x="6081308" y="5992530"/>
                </a:lnTo>
                <a:lnTo>
                  <a:pt x="0" y="599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836</Words>
  <Application>Microsoft Office PowerPoint</Application>
  <PresentationFormat>Custom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Oswald Bold</vt:lpstr>
      <vt:lpstr>Poppins</vt:lpstr>
      <vt:lpstr>Poppins Bold</vt:lpstr>
      <vt:lpstr>Arial</vt:lpstr>
      <vt:lpstr>Oswald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Determinants of Salary Packages in Indian Companies: A Multiple Regression Analysis</dc:title>
  <dc:creator>Devang</dc:creator>
  <cp:lastModifiedBy>Shreyas Pantangi</cp:lastModifiedBy>
  <cp:revision>8</cp:revision>
  <dcterms:created xsi:type="dcterms:W3CDTF">2006-08-16T00:00:00Z</dcterms:created>
  <dcterms:modified xsi:type="dcterms:W3CDTF">2025-12-10T04:33:36Z</dcterms:modified>
  <dc:identifier>DAG62_rAP58</dc:identifier>
</cp:coreProperties>
</file>