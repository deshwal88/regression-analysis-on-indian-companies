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swald Bold" charset="1" panose="00000800000000000000"/>
      <p:regular r:id="rId24"/>
    </p:embeddedFont>
    <p:embeddedFont>
      <p:font typeface="Poppins" charset="1" panose="00000500000000000000"/>
      <p:regular r:id="rId25"/>
    </p:embeddedFont>
    <p:embeddedFont>
      <p:font typeface="Oswald" charset="1" panose="00000500000000000000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jpeg" Type="http://schemas.openxmlformats.org/officeDocument/2006/relationships/image"/><Relationship Id="rId6" Target="../media/image25.jpeg" Type="http://schemas.openxmlformats.org/officeDocument/2006/relationships/image"/><Relationship Id="rId7" Target="../media/image26.jpeg" Type="http://schemas.openxmlformats.org/officeDocument/2006/relationships/image"/><Relationship Id="rId8" Target="../media/image2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95491" y="1210179"/>
            <a:ext cx="7763809" cy="7650469"/>
          </a:xfrm>
          <a:custGeom>
            <a:avLst/>
            <a:gdLst/>
            <a:ahLst/>
            <a:cxnLst/>
            <a:rect r="r" b="b" t="t" l="l"/>
            <a:pathLst>
              <a:path h="7650469" w="7763809">
                <a:moveTo>
                  <a:pt x="0" y="0"/>
                </a:moveTo>
                <a:lnTo>
                  <a:pt x="7763809" y="0"/>
                </a:lnTo>
                <a:lnTo>
                  <a:pt x="7763809" y="7650469"/>
                </a:lnTo>
                <a:lnTo>
                  <a:pt x="0" y="765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18346" y="2546981"/>
            <a:ext cx="4321642" cy="6189852"/>
          </a:xfrm>
          <a:custGeom>
            <a:avLst/>
            <a:gdLst/>
            <a:ahLst/>
            <a:cxnLst/>
            <a:rect r="r" b="b" t="t" l="l"/>
            <a:pathLst>
              <a:path h="6189852" w="4321642">
                <a:moveTo>
                  <a:pt x="0" y="0"/>
                </a:moveTo>
                <a:lnTo>
                  <a:pt x="4321642" y="0"/>
                </a:lnTo>
                <a:lnTo>
                  <a:pt x="4321642" y="6189852"/>
                </a:lnTo>
                <a:lnTo>
                  <a:pt x="0" y="6189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43279" y="2713808"/>
            <a:ext cx="9475067" cy="304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84"/>
              </a:lnSpc>
            </a:pPr>
            <a:r>
              <a:rPr lang="en-US" b="true" sz="5699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DE</a:t>
            </a:r>
            <a:r>
              <a:rPr lang="en-US" b="true" sz="5699" strike="noStrike" u="none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TERMINANTS OF SALARY PACKAGES IN INDIAN COMPANIES: A MULTIPLE REGRESSION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3279" y="6985588"/>
            <a:ext cx="9100628" cy="186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Group Members: </a:t>
            </a:r>
          </a:p>
          <a:p>
            <a:pPr algn="l" marL="461716" indent="-230858" lvl="1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Anmol Sai Ramchandran </a:t>
            </a:r>
          </a:p>
          <a:p>
            <a:pPr algn="l" marL="461716" indent="-230858" lvl="1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Devang Chaturvedi</a:t>
            </a:r>
          </a:p>
          <a:p>
            <a:pPr algn="l" marL="461716" indent="-230858" lvl="1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Kanishk Deshwal</a:t>
            </a:r>
          </a:p>
          <a:p>
            <a:pPr algn="l" marL="461716" indent="-230858" lvl="1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Shreyas Pantangi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06899" y="3213509"/>
            <a:ext cx="13474202" cy="5601781"/>
            <a:chOff x="0" y="0"/>
            <a:chExt cx="3548761" cy="1475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48761" cy="1475366"/>
            </a:xfrm>
            <a:custGeom>
              <a:avLst/>
              <a:gdLst/>
              <a:ahLst/>
              <a:cxnLst/>
              <a:rect r="r" b="b" t="t" l="l"/>
              <a:pathLst>
                <a:path h="1475366" w="3548761">
                  <a:moveTo>
                    <a:pt x="29303" y="0"/>
                  </a:moveTo>
                  <a:lnTo>
                    <a:pt x="3519458" y="0"/>
                  </a:lnTo>
                  <a:cubicBezTo>
                    <a:pt x="3527229" y="0"/>
                    <a:pt x="3534683" y="3087"/>
                    <a:pt x="3540178" y="8583"/>
                  </a:cubicBezTo>
                  <a:cubicBezTo>
                    <a:pt x="3545673" y="14078"/>
                    <a:pt x="3548761" y="21532"/>
                    <a:pt x="3548761" y="29303"/>
                  </a:cubicBezTo>
                  <a:lnTo>
                    <a:pt x="3548761" y="1446063"/>
                  </a:lnTo>
                  <a:cubicBezTo>
                    <a:pt x="3548761" y="1453835"/>
                    <a:pt x="3545673" y="1461288"/>
                    <a:pt x="3540178" y="1466783"/>
                  </a:cubicBezTo>
                  <a:cubicBezTo>
                    <a:pt x="3534683" y="1472279"/>
                    <a:pt x="3527229" y="1475366"/>
                    <a:pt x="3519458" y="1475366"/>
                  </a:cubicBezTo>
                  <a:lnTo>
                    <a:pt x="29303" y="1475366"/>
                  </a:lnTo>
                  <a:cubicBezTo>
                    <a:pt x="21532" y="1475366"/>
                    <a:pt x="14078" y="1472279"/>
                    <a:pt x="8583" y="1466783"/>
                  </a:cubicBezTo>
                  <a:cubicBezTo>
                    <a:pt x="3087" y="1461288"/>
                    <a:pt x="0" y="1453835"/>
                    <a:pt x="0" y="1446063"/>
                  </a:cubicBezTo>
                  <a:lnTo>
                    <a:pt x="0" y="29303"/>
                  </a:lnTo>
                  <a:cubicBezTo>
                    <a:pt x="0" y="21532"/>
                    <a:pt x="3087" y="14078"/>
                    <a:pt x="8583" y="8583"/>
                  </a:cubicBezTo>
                  <a:cubicBezTo>
                    <a:pt x="14078" y="3087"/>
                    <a:pt x="21532" y="0"/>
                    <a:pt x="293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548761" cy="1532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776591" y="3724084"/>
            <a:ext cx="5751935" cy="4580632"/>
          </a:xfrm>
          <a:custGeom>
            <a:avLst/>
            <a:gdLst/>
            <a:ahLst/>
            <a:cxnLst/>
            <a:rect r="r" b="b" t="t" l="l"/>
            <a:pathLst>
              <a:path h="4580632" w="5751935">
                <a:moveTo>
                  <a:pt x="0" y="0"/>
                </a:moveTo>
                <a:lnTo>
                  <a:pt x="5751935" y="0"/>
                </a:lnTo>
                <a:lnTo>
                  <a:pt x="5751935" y="4580632"/>
                </a:lnTo>
                <a:lnTo>
                  <a:pt x="0" y="4580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H="true" flipV="true">
            <a:off x="9134475" y="3213509"/>
            <a:ext cx="9525" cy="5601781"/>
          </a:xfrm>
          <a:prstGeom prst="line">
            <a:avLst/>
          </a:prstGeom>
          <a:ln cap="flat" w="19050">
            <a:solidFill>
              <a:srgbClr val="CD41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295549" y="1382464"/>
            <a:ext cx="9696902" cy="115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2402" y="4126545"/>
            <a:ext cx="5763110" cy="37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Understand which company attributes significantly influence salary packages.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Build an interpretable multiple regression model.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Validate assumptions using diagnostic plots.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Use the model to predict salary packages for hypothetical companies.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639035" y="-266828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68430" y="1829003"/>
            <a:ext cx="9890870" cy="7429297"/>
            <a:chOff x="0" y="0"/>
            <a:chExt cx="2605003" cy="1956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05003" cy="1956687"/>
            </a:xfrm>
            <a:custGeom>
              <a:avLst/>
              <a:gdLst/>
              <a:ahLst/>
              <a:cxnLst/>
              <a:rect r="r" b="b" t="t" l="l"/>
              <a:pathLst>
                <a:path h="1956687" w="2605003">
                  <a:moveTo>
                    <a:pt x="26613" y="0"/>
                  </a:moveTo>
                  <a:lnTo>
                    <a:pt x="2578390" y="0"/>
                  </a:lnTo>
                  <a:cubicBezTo>
                    <a:pt x="2593088" y="0"/>
                    <a:pt x="2605003" y="11915"/>
                    <a:pt x="2605003" y="26613"/>
                  </a:cubicBezTo>
                  <a:lnTo>
                    <a:pt x="2605003" y="1930074"/>
                  </a:lnTo>
                  <a:cubicBezTo>
                    <a:pt x="2605003" y="1937133"/>
                    <a:pt x="2602199" y="1943902"/>
                    <a:pt x="2597208" y="1948893"/>
                  </a:cubicBezTo>
                  <a:cubicBezTo>
                    <a:pt x="2592217" y="1953883"/>
                    <a:pt x="2585448" y="1956687"/>
                    <a:pt x="2578390" y="1956687"/>
                  </a:cubicBezTo>
                  <a:lnTo>
                    <a:pt x="26613" y="1956687"/>
                  </a:lnTo>
                  <a:cubicBezTo>
                    <a:pt x="11915" y="1956687"/>
                    <a:pt x="0" y="1944772"/>
                    <a:pt x="0" y="1930074"/>
                  </a:cubicBezTo>
                  <a:lnTo>
                    <a:pt x="0" y="26613"/>
                  </a:lnTo>
                  <a:cubicBezTo>
                    <a:pt x="0" y="11915"/>
                    <a:pt x="11915" y="0"/>
                    <a:pt x="266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605003" cy="2013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14276" y="2466765"/>
            <a:ext cx="7588549" cy="90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6818" strike="noStrike" u="non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Dataset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4276" y="3694345"/>
            <a:ext cx="7411003" cy="534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Scraped Data Includes:</a:t>
            </a:r>
          </a:p>
          <a:p>
            <a:pPr algn="just">
              <a:lnSpc>
                <a:spcPts val="2660"/>
              </a:lnSpc>
            </a:pP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Salary Package (dependent variable)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Company Rating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Number of Reviews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Years Since Establishment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Number of Branches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Industry Type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Headquarters Location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Total Employee Count</a:t>
            </a:r>
          </a:p>
          <a:p>
            <a:pPr algn="just">
              <a:lnSpc>
                <a:spcPts val="2660"/>
              </a:lnSpc>
            </a:p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</a:p>
          <a:p>
            <a:pPr algn="just">
              <a:lnSpc>
                <a:spcPts val="2660"/>
              </a:lnSpc>
            </a:pP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10,000+ companies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Mixture of numeric + categorical variables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Highly skewed variables → might require transformation.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2967" y="3107900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8" y="0"/>
                </a:lnTo>
                <a:lnTo>
                  <a:pt x="6017178" y="5929335"/>
                </a:lnTo>
                <a:lnTo>
                  <a:pt x="0" y="5929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153885"/>
            <a:ext cx="5745712" cy="6556310"/>
          </a:xfrm>
          <a:custGeom>
            <a:avLst/>
            <a:gdLst/>
            <a:ahLst/>
            <a:cxnLst/>
            <a:rect r="r" b="b" t="t" l="l"/>
            <a:pathLst>
              <a:path h="6556310" w="5745712">
                <a:moveTo>
                  <a:pt x="0" y="0"/>
                </a:moveTo>
                <a:lnTo>
                  <a:pt x="5745712" y="0"/>
                </a:lnTo>
                <a:lnTo>
                  <a:pt x="5745712" y="6556310"/>
                </a:lnTo>
                <a:lnTo>
                  <a:pt x="0" y="6556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5339" y="6293632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1792" y="-1069654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8345" y="1182705"/>
            <a:ext cx="17151310" cy="7921590"/>
            <a:chOff x="0" y="0"/>
            <a:chExt cx="4517218" cy="2086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17218" cy="2086345"/>
            </a:xfrm>
            <a:custGeom>
              <a:avLst/>
              <a:gdLst/>
              <a:ahLst/>
              <a:cxnLst/>
              <a:rect r="r" b="b" t="t" l="l"/>
              <a:pathLst>
                <a:path h="2086345" w="4517218">
                  <a:moveTo>
                    <a:pt x="15347" y="0"/>
                  </a:moveTo>
                  <a:lnTo>
                    <a:pt x="4501871" y="0"/>
                  </a:lnTo>
                  <a:cubicBezTo>
                    <a:pt x="4510346" y="0"/>
                    <a:pt x="4517218" y="6871"/>
                    <a:pt x="4517218" y="15347"/>
                  </a:cubicBezTo>
                  <a:lnTo>
                    <a:pt x="4517218" y="2070997"/>
                  </a:lnTo>
                  <a:cubicBezTo>
                    <a:pt x="4517218" y="2075068"/>
                    <a:pt x="4515601" y="2078972"/>
                    <a:pt x="4512723" y="2081850"/>
                  </a:cubicBezTo>
                  <a:cubicBezTo>
                    <a:pt x="4509844" y="2084728"/>
                    <a:pt x="4505941" y="2086345"/>
                    <a:pt x="4501871" y="2086345"/>
                  </a:cubicBezTo>
                  <a:lnTo>
                    <a:pt x="15347" y="2086345"/>
                  </a:lnTo>
                  <a:cubicBezTo>
                    <a:pt x="11277" y="2086345"/>
                    <a:pt x="7373" y="2084728"/>
                    <a:pt x="4495" y="2081850"/>
                  </a:cubicBezTo>
                  <a:cubicBezTo>
                    <a:pt x="1617" y="2078972"/>
                    <a:pt x="0" y="2075068"/>
                    <a:pt x="0" y="2070997"/>
                  </a:cubicBezTo>
                  <a:lnTo>
                    <a:pt x="0" y="15347"/>
                  </a:lnTo>
                  <a:cubicBezTo>
                    <a:pt x="0" y="11277"/>
                    <a:pt x="1617" y="7373"/>
                    <a:pt x="4495" y="4495"/>
                  </a:cubicBezTo>
                  <a:cubicBezTo>
                    <a:pt x="7373" y="1617"/>
                    <a:pt x="11277" y="0"/>
                    <a:pt x="15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517218" cy="214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691733" y="2753236"/>
            <a:ext cx="5698776" cy="5657330"/>
          </a:xfrm>
          <a:custGeom>
            <a:avLst/>
            <a:gdLst/>
            <a:ahLst/>
            <a:cxnLst/>
            <a:rect r="r" b="b" t="t" l="l"/>
            <a:pathLst>
              <a:path h="5657330" w="5698776">
                <a:moveTo>
                  <a:pt x="0" y="0"/>
                </a:moveTo>
                <a:lnTo>
                  <a:pt x="5698775" y="0"/>
                </a:lnTo>
                <a:lnTo>
                  <a:pt x="5698775" y="5657330"/>
                </a:lnTo>
                <a:lnTo>
                  <a:pt x="0" y="565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271784" y="4638471"/>
            <a:ext cx="825775" cy="8257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32198" y="4790833"/>
            <a:ext cx="504945" cy="521050"/>
          </a:xfrm>
          <a:custGeom>
            <a:avLst/>
            <a:gdLst/>
            <a:ahLst/>
            <a:cxnLst/>
            <a:rect r="r" b="b" t="t" l="l"/>
            <a:pathLst>
              <a:path h="521050" w="504945">
                <a:moveTo>
                  <a:pt x="0" y="0"/>
                </a:moveTo>
                <a:lnTo>
                  <a:pt x="504946" y="0"/>
                </a:lnTo>
                <a:lnTo>
                  <a:pt x="504946" y="521050"/>
                </a:lnTo>
                <a:lnTo>
                  <a:pt x="0" y="521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4295549" y="1731724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Data Cleaning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7091" y="4463666"/>
            <a:ext cx="7411003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Data Type Conversion</a:t>
            </a:r>
          </a:p>
          <a:p>
            <a:pPr algn="just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Converted scraped text fields to numeric (e.g., ratings, reviews, salary).</a:t>
            </a:r>
          </a:p>
          <a:p>
            <a:pPr algn="just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Removed commas, symbols, and extra text.</a:t>
            </a:r>
          </a:p>
          <a:p>
            <a:pPr algn="just">
              <a:lnSpc>
                <a:spcPts val="252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397091" y="5802412"/>
            <a:ext cx="7411003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Scaling / Transformation</a:t>
            </a:r>
          </a:p>
          <a:p>
            <a:pPr algn="just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Variables on very different scales were normalized or log-transformed.</a:t>
            </a:r>
          </a:p>
          <a:p>
            <a:pPr algn="just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Reduced skewness and improved model stability.</a:t>
            </a:r>
          </a:p>
          <a:p>
            <a:pPr algn="just">
              <a:lnSpc>
                <a:spcPts val="25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397091" y="7139722"/>
            <a:ext cx="7411003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Categorical Handling</a:t>
            </a:r>
          </a:p>
          <a:p>
            <a:pPr algn="just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Encoded Industry and HQ using dummy variables.</a:t>
            </a:r>
          </a:p>
          <a:p>
            <a:pPr algn="just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Removed redundant levels and lumped rare categories into “Other.”</a:t>
            </a:r>
          </a:p>
          <a:p>
            <a:pPr algn="just">
              <a:lnSpc>
                <a:spcPts val="252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271784" y="5977217"/>
            <a:ext cx="825775" cy="8257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61948" y="6145551"/>
            <a:ext cx="604097" cy="487671"/>
          </a:xfrm>
          <a:custGeom>
            <a:avLst/>
            <a:gdLst/>
            <a:ahLst/>
            <a:cxnLst/>
            <a:rect r="r" b="b" t="t" l="l"/>
            <a:pathLst>
              <a:path h="487671" w="604097">
                <a:moveTo>
                  <a:pt x="0" y="0"/>
                </a:moveTo>
                <a:lnTo>
                  <a:pt x="604098" y="0"/>
                </a:lnTo>
                <a:lnTo>
                  <a:pt x="604098" y="487671"/>
                </a:lnTo>
                <a:lnTo>
                  <a:pt x="0" y="4876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1271784" y="7314527"/>
            <a:ext cx="825775" cy="82577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03296" y="7496176"/>
            <a:ext cx="562750" cy="462478"/>
          </a:xfrm>
          <a:custGeom>
            <a:avLst/>
            <a:gdLst/>
            <a:ahLst/>
            <a:cxnLst/>
            <a:rect r="r" b="b" t="t" l="l"/>
            <a:pathLst>
              <a:path h="462478" w="562750">
                <a:moveTo>
                  <a:pt x="0" y="0"/>
                </a:moveTo>
                <a:lnTo>
                  <a:pt x="562750" y="0"/>
                </a:lnTo>
                <a:lnTo>
                  <a:pt x="562750" y="462477"/>
                </a:lnTo>
                <a:lnTo>
                  <a:pt x="0" y="4624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5339" y="6293632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1792" y="-1069654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7650" y="231998"/>
            <a:ext cx="17746278" cy="9871758"/>
            <a:chOff x="0" y="0"/>
            <a:chExt cx="4673917" cy="2599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3917" cy="2599969"/>
            </a:xfrm>
            <a:custGeom>
              <a:avLst/>
              <a:gdLst/>
              <a:ahLst/>
              <a:cxnLst/>
              <a:rect r="r" b="b" t="t" l="l"/>
              <a:pathLst>
                <a:path h="2599969" w="4673917">
                  <a:moveTo>
                    <a:pt x="14833" y="0"/>
                  </a:moveTo>
                  <a:lnTo>
                    <a:pt x="4659084" y="0"/>
                  </a:lnTo>
                  <a:cubicBezTo>
                    <a:pt x="4663018" y="0"/>
                    <a:pt x="4666791" y="1563"/>
                    <a:pt x="4669573" y="4344"/>
                  </a:cubicBezTo>
                  <a:cubicBezTo>
                    <a:pt x="4672354" y="7126"/>
                    <a:pt x="4673917" y="10899"/>
                    <a:pt x="4673917" y="14833"/>
                  </a:cubicBezTo>
                  <a:lnTo>
                    <a:pt x="4673917" y="2585136"/>
                  </a:lnTo>
                  <a:cubicBezTo>
                    <a:pt x="4673917" y="2593328"/>
                    <a:pt x="4667276" y="2599969"/>
                    <a:pt x="4659084" y="2599969"/>
                  </a:cubicBezTo>
                  <a:lnTo>
                    <a:pt x="14833" y="2599969"/>
                  </a:lnTo>
                  <a:cubicBezTo>
                    <a:pt x="10899" y="2599969"/>
                    <a:pt x="7126" y="2598406"/>
                    <a:pt x="4344" y="2595625"/>
                  </a:cubicBezTo>
                  <a:cubicBezTo>
                    <a:pt x="1563" y="2592843"/>
                    <a:pt x="0" y="2589070"/>
                    <a:pt x="0" y="2585136"/>
                  </a:cubicBezTo>
                  <a:lnTo>
                    <a:pt x="0" y="14833"/>
                  </a:lnTo>
                  <a:cubicBezTo>
                    <a:pt x="0" y="6641"/>
                    <a:pt x="6641" y="0"/>
                    <a:pt x="148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917" cy="2657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883" y="1908484"/>
            <a:ext cx="11050969" cy="7735678"/>
          </a:xfrm>
          <a:custGeom>
            <a:avLst/>
            <a:gdLst/>
            <a:ahLst/>
            <a:cxnLst/>
            <a:rect r="r" b="b" t="t" l="l"/>
            <a:pathLst>
              <a:path h="7735678" w="11050969">
                <a:moveTo>
                  <a:pt x="0" y="0"/>
                </a:moveTo>
                <a:lnTo>
                  <a:pt x="11050968" y="0"/>
                </a:lnTo>
                <a:lnTo>
                  <a:pt x="11050968" y="7735678"/>
                </a:lnTo>
                <a:lnTo>
                  <a:pt x="0" y="7735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92338" y="377104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Histogram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5104" y="1997191"/>
            <a:ext cx="5444196" cy="49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Key Observations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Package, Reviews, and Employees show strong right-skewness → many small companies, few very large ones.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Rating is tightly concentrated between 3–4, with low variance.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Years Old shows most companies are relatively young, with a long tail of older firms.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Branches is moderately skewed; majority have 1–3 branches.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Log transformations help reduce skewness and make variables more suitable for regression.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5339" y="6293632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1792" y="-1069654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7650" y="231998"/>
            <a:ext cx="17746278" cy="9871758"/>
            <a:chOff x="0" y="0"/>
            <a:chExt cx="4673917" cy="2599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3917" cy="2599969"/>
            </a:xfrm>
            <a:custGeom>
              <a:avLst/>
              <a:gdLst/>
              <a:ahLst/>
              <a:cxnLst/>
              <a:rect r="r" b="b" t="t" l="l"/>
              <a:pathLst>
                <a:path h="2599969" w="4673917">
                  <a:moveTo>
                    <a:pt x="14833" y="0"/>
                  </a:moveTo>
                  <a:lnTo>
                    <a:pt x="4659084" y="0"/>
                  </a:lnTo>
                  <a:cubicBezTo>
                    <a:pt x="4663018" y="0"/>
                    <a:pt x="4666791" y="1563"/>
                    <a:pt x="4669573" y="4344"/>
                  </a:cubicBezTo>
                  <a:cubicBezTo>
                    <a:pt x="4672354" y="7126"/>
                    <a:pt x="4673917" y="10899"/>
                    <a:pt x="4673917" y="14833"/>
                  </a:cubicBezTo>
                  <a:lnTo>
                    <a:pt x="4673917" y="2585136"/>
                  </a:lnTo>
                  <a:cubicBezTo>
                    <a:pt x="4673917" y="2593328"/>
                    <a:pt x="4667276" y="2599969"/>
                    <a:pt x="4659084" y="2599969"/>
                  </a:cubicBezTo>
                  <a:lnTo>
                    <a:pt x="14833" y="2599969"/>
                  </a:lnTo>
                  <a:cubicBezTo>
                    <a:pt x="10899" y="2599969"/>
                    <a:pt x="7126" y="2598406"/>
                    <a:pt x="4344" y="2595625"/>
                  </a:cubicBezTo>
                  <a:cubicBezTo>
                    <a:pt x="1563" y="2592843"/>
                    <a:pt x="0" y="2589070"/>
                    <a:pt x="0" y="2585136"/>
                  </a:cubicBezTo>
                  <a:lnTo>
                    <a:pt x="0" y="14833"/>
                  </a:lnTo>
                  <a:cubicBezTo>
                    <a:pt x="0" y="6641"/>
                    <a:pt x="6641" y="0"/>
                    <a:pt x="148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917" cy="2657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24982" y="2063866"/>
            <a:ext cx="11390123" cy="6848311"/>
          </a:xfrm>
          <a:custGeom>
            <a:avLst/>
            <a:gdLst/>
            <a:ahLst/>
            <a:cxnLst/>
            <a:rect r="r" b="b" t="t" l="l"/>
            <a:pathLst>
              <a:path h="6848311" w="11390123">
                <a:moveTo>
                  <a:pt x="0" y="0"/>
                </a:moveTo>
                <a:lnTo>
                  <a:pt x="11390122" y="0"/>
                </a:lnTo>
                <a:lnTo>
                  <a:pt x="11390122" y="6848311"/>
                </a:lnTo>
                <a:lnTo>
                  <a:pt x="0" y="6848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92338" y="377104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Boxplots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5104" y="1982106"/>
            <a:ext cx="5444196" cy="741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Key Observations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Bengaluru Offers the Highest </a:t>
            </a:r>
            <a:r>
              <a:rPr lang="en-US" b="true" sz="20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Packages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Highest median salary among all HQ locations.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Also shows the greatest spread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Chennai and Mumbai Follow Next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Moderate median packages.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More consistent, less volatile compared to Bengaluru.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New Delhi &amp; Other Locations Have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0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Lower Packages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Lower median compensation.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Smaller spread suggests fewer high-paying firms.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Pune Shows High Variability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Some companies offer very competitive packages.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Overall median slightly higher than Delhi/Other.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5339" y="6293632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1792" y="-1069654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7650" y="231998"/>
            <a:ext cx="17746278" cy="9871758"/>
            <a:chOff x="0" y="0"/>
            <a:chExt cx="4673917" cy="2599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3917" cy="2599969"/>
            </a:xfrm>
            <a:custGeom>
              <a:avLst/>
              <a:gdLst/>
              <a:ahLst/>
              <a:cxnLst/>
              <a:rect r="r" b="b" t="t" l="l"/>
              <a:pathLst>
                <a:path h="2599969" w="4673917">
                  <a:moveTo>
                    <a:pt x="14833" y="0"/>
                  </a:moveTo>
                  <a:lnTo>
                    <a:pt x="4659084" y="0"/>
                  </a:lnTo>
                  <a:cubicBezTo>
                    <a:pt x="4663018" y="0"/>
                    <a:pt x="4666791" y="1563"/>
                    <a:pt x="4669573" y="4344"/>
                  </a:cubicBezTo>
                  <a:cubicBezTo>
                    <a:pt x="4672354" y="7126"/>
                    <a:pt x="4673917" y="10899"/>
                    <a:pt x="4673917" y="14833"/>
                  </a:cubicBezTo>
                  <a:lnTo>
                    <a:pt x="4673917" y="2585136"/>
                  </a:lnTo>
                  <a:cubicBezTo>
                    <a:pt x="4673917" y="2593328"/>
                    <a:pt x="4667276" y="2599969"/>
                    <a:pt x="4659084" y="2599969"/>
                  </a:cubicBezTo>
                  <a:lnTo>
                    <a:pt x="14833" y="2599969"/>
                  </a:lnTo>
                  <a:cubicBezTo>
                    <a:pt x="10899" y="2599969"/>
                    <a:pt x="7126" y="2598406"/>
                    <a:pt x="4344" y="2595625"/>
                  </a:cubicBezTo>
                  <a:cubicBezTo>
                    <a:pt x="1563" y="2592843"/>
                    <a:pt x="0" y="2589070"/>
                    <a:pt x="0" y="2585136"/>
                  </a:cubicBezTo>
                  <a:lnTo>
                    <a:pt x="0" y="14833"/>
                  </a:lnTo>
                  <a:cubicBezTo>
                    <a:pt x="0" y="6641"/>
                    <a:pt x="6641" y="0"/>
                    <a:pt x="148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917" cy="2657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7973" y="2048781"/>
            <a:ext cx="11001683" cy="7536153"/>
          </a:xfrm>
          <a:custGeom>
            <a:avLst/>
            <a:gdLst/>
            <a:ahLst/>
            <a:cxnLst/>
            <a:rect r="r" b="b" t="t" l="l"/>
            <a:pathLst>
              <a:path h="7536153" w="11001683">
                <a:moveTo>
                  <a:pt x="0" y="0"/>
                </a:moveTo>
                <a:lnTo>
                  <a:pt x="11001683" y="0"/>
                </a:lnTo>
                <a:lnTo>
                  <a:pt x="11001683" y="7536153"/>
                </a:lnTo>
                <a:lnTo>
                  <a:pt x="0" y="7536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92338" y="377104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Boxplots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5104" y="3060379"/>
            <a:ext cx="5444196" cy="389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es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ff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 noti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ceably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 average salary levels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Financial Services, Internet, Software Product → higher packages.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du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raining, Construction, Healthcare → lower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ackages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Some industries (e.g., Consulting, Other) show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ariability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Log scale helps reveal differences more clearly.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67170" y="-3194657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88608" y="6714885"/>
            <a:ext cx="6637037" cy="6540146"/>
          </a:xfrm>
          <a:custGeom>
            <a:avLst/>
            <a:gdLst/>
            <a:ahLst/>
            <a:cxnLst/>
            <a:rect r="r" b="b" t="t" l="l"/>
            <a:pathLst>
              <a:path h="6540146" w="6637037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3433" y="1028700"/>
            <a:ext cx="16661135" cy="8229600"/>
            <a:chOff x="0" y="0"/>
            <a:chExt cx="4388118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8118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88118">
                  <a:moveTo>
                    <a:pt x="23698" y="0"/>
                  </a:moveTo>
                  <a:lnTo>
                    <a:pt x="4364420" y="0"/>
                  </a:lnTo>
                  <a:cubicBezTo>
                    <a:pt x="4370705" y="0"/>
                    <a:pt x="4376732" y="2497"/>
                    <a:pt x="4381177" y="6941"/>
                  </a:cubicBezTo>
                  <a:cubicBezTo>
                    <a:pt x="4385621" y="11385"/>
                    <a:pt x="4388118" y="17413"/>
                    <a:pt x="4388118" y="23698"/>
                  </a:cubicBezTo>
                  <a:lnTo>
                    <a:pt x="4388118" y="2143769"/>
                  </a:lnTo>
                  <a:cubicBezTo>
                    <a:pt x="4388118" y="2156857"/>
                    <a:pt x="4377508" y="2167467"/>
                    <a:pt x="4364420" y="2167467"/>
                  </a:cubicBezTo>
                  <a:lnTo>
                    <a:pt x="23698" y="2167467"/>
                  </a:lnTo>
                  <a:cubicBezTo>
                    <a:pt x="17413" y="2167467"/>
                    <a:pt x="11385" y="2164970"/>
                    <a:pt x="6941" y="2160526"/>
                  </a:cubicBezTo>
                  <a:cubicBezTo>
                    <a:pt x="2497" y="2156081"/>
                    <a:pt x="0" y="2150054"/>
                    <a:pt x="0" y="2143769"/>
                  </a:cubicBezTo>
                  <a:lnTo>
                    <a:pt x="0" y="23698"/>
                  </a:lnTo>
                  <a:cubicBezTo>
                    <a:pt x="0" y="10610"/>
                    <a:pt x="10610" y="0"/>
                    <a:pt x="236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388118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95549" y="1481728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Hypothesis 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0759" y="3737078"/>
            <a:ext cx="6643241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Is the </a:t>
            </a:r>
            <a:r>
              <a:rPr lang="en-US" b="true" sz="2700" strike="noStrike" u="non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company rating different from 3.5?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8157" y="4907169"/>
            <a:ext cx="630022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Mean rating = 3.5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Mean rating ≠ 3.5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500759" y="6206799"/>
            <a:ext cx="5735814" cy="149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Do Bangalore and non Bangalore companies differ in package?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8157" y="7910788"/>
            <a:ext cx="630022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μ_Bangalore = μ_NonBangalore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μ_Bangalore ≠ μ_NonBangalore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479302" y="3727553"/>
            <a:ext cx="6031229" cy="100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Does average package differ by industry?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4805" y="4802814"/>
            <a:ext cx="6300223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All industries have the same mean package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At least one industry differs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479302" y="6206799"/>
            <a:ext cx="6031229" cy="100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Are industry and headquarters location independent?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44805" y="7345878"/>
            <a:ext cx="630022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Industry and HQ are independent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They are dependent</a:t>
            </a:r>
          </a:p>
          <a:p>
            <a:pPr algn="just">
              <a:lnSpc>
                <a:spcPts val="294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548774" y="3813278"/>
            <a:ext cx="699655" cy="69965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48774" y="6292524"/>
            <a:ext cx="699655" cy="69965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2902" y="3813278"/>
            <a:ext cx="699655" cy="69965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2902" y="6292524"/>
            <a:ext cx="699655" cy="69965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517902" y="386513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08475" y="6344384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52603" y="3865138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52603" y="6344384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89991" y="1280898"/>
            <a:ext cx="9890870" cy="7429297"/>
            <a:chOff x="0" y="0"/>
            <a:chExt cx="2605003" cy="1956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05003" cy="1956687"/>
            </a:xfrm>
            <a:custGeom>
              <a:avLst/>
              <a:gdLst/>
              <a:ahLst/>
              <a:cxnLst/>
              <a:rect r="r" b="b" t="t" l="l"/>
              <a:pathLst>
                <a:path h="1956687" w="2605003">
                  <a:moveTo>
                    <a:pt x="26613" y="0"/>
                  </a:moveTo>
                  <a:lnTo>
                    <a:pt x="2578390" y="0"/>
                  </a:lnTo>
                  <a:cubicBezTo>
                    <a:pt x="2593088" y="0"/>
                    <a:pt x="2605003" y="11915"/>
                    <a:pt x="2605003" y="26613"/>
                  </a:cubicBezTo>
                  <a:lnTo>
                    <a:pt x="2605003" y="1930074"/>
                  </a:lnTo>
                  <a:cubicBezTo>
                    <a:pt x="2605003" y="1937133"/>
                    <a:pt x="2602199" y="1943902"/>
                    <a:pt x="2597208" y="1948893"/>
                  </a:cubicBezTo>
                  <a:cubicBezTo>
                    <a:pt x="2592217" y="1953883"/>
                    <a:pt x="2585448" y="1956687"/>
                    <a:pt x="2578390" y="1956687"/>
                  </a:cubicBezTo>
                  <a:lnTo>
                    <a:pt x="26613" y="1956687"/>
                  </a:lnTo>
                  <a:cubicBezTo>
                    <a:pt x="11915" y="1956687"/>
                    <a:pt x="0" y="1944772"/>
                    <a:pt x="0" y="1930074"/>
                  </a:cubicBezTo>
                  <a:lnTo>
                    <a:pt x="0" y="26613"/>
                  </a:lnTo>
                  <a:cubicBezTo>
                    <a:pt x="0" y="11915"/>
                    <a:pt x="11915" y="0"/>
                    <a:pt x="266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605003" cy="2013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88130" y="2287235"/>
            <a:ext cx="7588549" cy="176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Key</a:t>
            </a:r>
            <a:r>
              <a:rPr lang="en-US" sz="6818" strike="noStrike" u="non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 Findings From Hypothesis Testing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88130" y="4305967"/>
            <a:ext cx="7411003" cy="409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Average company ratings are significantly higher than 3.5.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Bangalore companies offer higher salary packages than companies in other cities.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Industry has a strong and significant impact on package levels.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Industry and HQ location are closely associated (certain industries cluster in certain cities).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Company age shows almost no relationship with the salary package — effect is negligible.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2967" y="3107900"/>
            <a:ext cx="6017177" cy="5929335"/>
          </a:xfrm>
          <a:custGeom>
            <a:avLst/>
            <a:gdLst/>
            <a:ahLst/>
            <a:cxnLst/>
            <a:rect r="r" b="b" t="t" l="l"/>
            <a:pathLst>
              <a:path h="5929335" w="6017177">
                <a:moveTo>
                  <a:pt x="0" y="0"/>
                </a:moveTo>
                <a:lnTo>
                  <a:pt x="6017178" y="0"/>
                </a:lnTo>
                <a:lnTo>
                  <a:pt x="6017178" y="5929335"/>
                </a:lnTo>
                <a:lnTo>
                  <a:pt x="0" y="5929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153885"/>
            <a:ext cx="5745712" cy="6556310"/>
          </a:xfrm>
          <a:custGeom>
            <a:avLst/>
            <a:gdLst/>
            <a:ahLst/>
            <a:cxnLst/>
            <a:rect r="r" b="b" t="t" l="l"/>
            <a:pathLst>
              <a:path h="6556310" w="5745712">
                <a:moveTo>
                  <a:pt x="0" y="0"/>
                </a:moveTo>
                <a:lnTo>
                  <a:pt x="5745712" y="0"/>
                </a:lnTo>
                <a:lnTo>
                  <a:pt x="5745712" y="6556310"/>
                </a:lnTo>
                <a:lnTo>
                  <a:pt x="0" y="6556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861792" y="-1069654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76679" y="7686691"/>
            <a:ext cx="4258882" cy="4196709"/>
          </a:xfrm>
          <a:custGeom>
            <a:avLst/>
            <a:gdLst/>
            <a:ahLst/>
            <a:cxnLst/>
            <a:rect r="r" b="b" t="t" l="l"/>
            <a:pathLst>
              <a:path h="4196709" w="4258882">
                <a:moveTo>
                  <a:pt x="0" y="0"/>
                </a:moveTo>
                <a:lnTo>
                  <a:pt x="4258883" y="0"/>
                </a:lnTo>
                <a:lnTo>
                  <a:pt x="4258883" y="4196709"/>
                </a:lnTo>
                <a:lnTo>
                  <a:pt x="0" y="4196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4240" y="2750345"/>
            <a:ext cx="17285615" cy="7173779"/>
            <a:chOff x="0" y="0"/>
            <a:chExt cx="4552590" cy="1889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52590" cy="1889390"/>
            </a:xfrm>
            <a:custGeom>
              <a:avLst/>
              <a:gdLst/>
              <a:ahLst/>
              <a:cxnLst/>
              <a:rect r="r" b="b" t="t" l="l"/>
              <a:pathLst>
                <a:path h="1889390" w="45525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11322846" y="2750345"/>
            <a:ext cx="0" cy="7173779"/>
          </a:xfrm>
          <a:prstGeom prst="line">
            <a:avLst/>
          </a:prstGeom>
          <a:ln cap="flat" w="19050">
            <a:solidFill>
              <a:srgbClr val="CD41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10754" y="1371900"/>
            <a:ext cx="15266493" cy="99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5"/>
              </a:lnSpc>
            </a:pPr>
            <a:r>
              <a:rPr lang="en-US" sz="5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Residuals vs Fitted (Before Box-Cox Transformation)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639035" y="-266828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4953" y="3010652"/>
            <a:ext cx="10214994" cy="6304110"/>
          </a:xfrm>
          <a:custGeom>
            <a:avLst/>
            <a:gdLst/>
            <a:ahLst/>
            <a:cxnLst/>
            <a:rect r="r" b="b" t="t" l="l"/>
            <a:pathLst>
              <a:path h="6304110" w="10214994">
                <a:moveTo>
                  <a:pt x="0" y="0"/>
                </a:moveTo>
                <a:lnTo>
                  <a:pt x="10214993" y="0"/>
                </a:lnTo>
                <a:lnTo>
                  <a:pt x="10214993" y="6304111"/>
                </a:lnTo>
                <a:lnTo>
                  <a:pt x="0" y="6304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69931" y="3270743"/>
            <a:ext cx="5763110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Clear funnel / cone-shaped pattern, with residual spread increasing at higher fitted values.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Indicates violation of homoscedasticity (non-constant variance).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Some firms (e.g., Infosys, Teleperformance) lie far from the regression line → potential outliers.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4240" y="2750345"/>
            <a:ext cx="17285615" cy="7173779"/>
            <a:chOff x="0" y="0"/>
            <a:chExt cx="4552590" cy="1889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52590" cy="1889390"/>
            </a:xfrm>
            <a:custGeom>
              <a:avLst/>
              <a:gdLst/>
              <a:ahLst/>
              <a:cxnLst/>
              <a:rect r="r" b="b" t="t" l="l"/>
              <a:pathLst>
                <a:path h="1889390" w="45525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11322846" y="2750345"/>
            <a:ext cx="0" cy="7173779"/>
          </a:xfrm>
          <a:prstGeom prst="line">
            <a:avLst/>
          </a:prstGeom>
          <a:ln cap="flat" w="19050">
            <a:solidFill>
              <a:srgbClr val="CD41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63801" y="1585966"/>
            <a:ext cx="15266493" cy="82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5"/>
              </a:lnSpc>
            </a:pPr>
            <a:r>
              <a:rPr lang="en-US" sz="4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Residuals vs Fitted (After Log Transformation per Box-Cox λ ≈ 0)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639035" y="-266828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1617" y="3040781"/>
            <a:ext cx="10447324" cy="6447492"/>
          </a:xfrm>
          <a:custGeom>
            <a:avLst/>
            <a:gdLst/>
            <a:ahLst/>
            <a:cxnLst/>
            <a:rect r="r" b="b" t="t" l="l"/>
            <a:pathLst>
              <a:path h="6447492" w="10447324">
                <a:moveTo>
                  <a:pt x="0" y="0"/>
                </a:moveTo>
                <a:lnTo>
                  <a:pt x="10447325" y="0"/>
                </a:lnTo>
                <a:lnTo>
                  <a:pt x="10447325" y="6447491"/>
                </a:lnTo>
                <a:lnTo>
                  <a:pt x="0" y="6447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69931" y="3261218"/>
            <a:ext cx="5872937" cy="261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5"/>
              </a:lnSpc>
            </a:pPr>
            <a:r>
              <a:rPr lang="en-US" sz="2089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observation:</a:t>
            </a:r>
          </a:p>
          <a:p>
            <a:pPr algn="just" marL="451227" indent="-225613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Sp</a:t>
            </a: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read of residuals is now much more uniform across fitted values.</a:t>
            </a:r>
          </a:p>
          <a:p>
            <a:pPr algn="just" marL="451227" indent="-225613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teroscedasticity visibly reduced.</a:t>
            </a:r>
          </a:p>
          <a:p>
            <a:pPr algn="just">
              <a:lnSpc>
                <a:spcPts val="2925"/>
              </a:lnSpc>
            </a:pP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Extre</a:t>
            </a: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me deviations (e.g., InternEzy, Lavender Technology, Manju Foundation) still exist but no longer dominate the scale.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4240" y="2750345"/>
            <a:ext cx="17285615" cy="7173779"/>
            <a:chOff x="0" y="0"/>
            <a:chExt cx="4552590" cy="1889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52590" cy="1889390"/>
            </a:xfrm>
            <a:custGeom>
              <a:avLst/>
              <a:gdLst/>
              <a:ahLst/>
              <a:cxnLst/>
              <a:rect r="r" b="b" t="t" l="l"/>
              <a:pathLst>
                <a:path h="1889390" w="45525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11322846" y="2750345"/>
            <a:ext cx="0" cy="7173779"/>
          </a:xfrm>
          <a:prstGeom prst="line">
            <a:avLst/>
          </a:prstGeom>
          <a:ln cap="flat" w="19050">
            <a:solidFill>
              <a:srgbClr val="CD41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63801" y="1464081"/>
            <a:ext cx="15266493" cy="90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5"/>
              </a:lnSpc>
            </a:pPr>
            <a:r>
              <a:rPr lang="en-US" sz="53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Cook’s Distance (Influence Plot)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639035" y="-266828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4998" y="3194450"/>
            <a:ext cx="10184949" cy="6285568"/>
          </a:xfrm>
          <a:custGeom>
            <a:avLst/>
            <a:gdLst/>
            <a:ahLst/>
            <a:cxnLst/>
            <a:rect r="r" b="b" t="t" l="l"/>
            <a:pathLst>
              <a:path h="6285568" w="10184949">
                <a:moveTo>
                  <a:pt x="0" y="0"/>
                </a:moveTo>
                <a:lnTo>
                  <a:pt x="10184948" y="0"/>
                </a:lnTo>
                <a:lnTo>
                  <a:pt x="10184948" y="6285568"/>
                </a:lnTo>
                <a:lnTo>
                  <a:pt x="0" y="6285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69931" y="3261218"/>
            <a:ext cx="5872937" cy="187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5"/>
              </a:lnSpc>
            </a:pPr>
            <a:r>
              <a:rPr lang="en-US" sz="2089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sz="2089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ey observation:</a:t>
            </a:r>
          </a:p>
          <a:p>
            <a:pPr algn="just" marL="451227" indent="-225613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One clear influential company: TCS (far beyond the ref</a:t>
            </a: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ence line).</a:t>
            </a:r>
          </a:p>
          <a:p>
            <a:pPr algn="just" marL="451227" indent="-225613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89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maining points lie near 0 → not influential, even if residual outliers.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4954" y="7290735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7" y="0"/>
                </a:lnTo>
                <a:lnTo>
                  <a:pt x="6081307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29902" y="2624465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7" y="0"/>
                </a:lnTo>
                <a:lnTo>
                  <a:pt x="6081307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22393" y="120533"/>
            <a:ext cx="17243215" cy="10066024"/>
            <a:chOff x="0" y="0"/>
            <a:chExt cx="4541423" cy="2651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1423" cy="2651134"/>
            </a:xfrm>
            <a:custGeom>
              <a:avLst/>
              <a:gdLst/>
              <a:ahLst/>
              <a:cxnLst/>
              <a:rect r="r" b="b" t="t" l="l"/>
              <a:pathLst>
                <a:path h="2651134" w="4541423">
                  <a:moveTo>
                    <a:pt x="15265" y="0"/>
                  </a:moveTo>
                  <a:lnTo>
                    <a:pt x="4526157" y="0"/>
                  </a:lnTo>
                  <a:cubicBezTo>
                    <a:pt x="4534588" y="0"/>
                    <a:pt x="4541423" y="6835"/>
                    <a:pt x="4541423" y="15265"/>
                  </a:cubicBezTo>
                  <a:lnTo>
                    <a:pt x="4541423" y="2635869"/>
                  </a:lnTo>
                  <a:cubicBezTo>
                    <a:pt x="4541423" y="2644299"/>
                    <a:pt x="4534588" y="2651134"/>
                    <a:pt x="4526157" y="2651134"/>
                  </a:cubicBezTo>
                  <a:lnTo>
                    <a:pt x="15265" y="2651134"/>
                  </a:lnTo>
                  <a:cubicBezTo>
                    <a:pt x="6835" y="2651134"/>
                    <a:pt x="0" y="2644299"/>
                    <a:pt x="0" y="2635869"/>
                  </a:cubicBezTo>
                  <a:lnTo>
                    <a:pt x="0" y="15265"/>
                  </a:lnTo>
                  <a:cubicBezTo>
                    <a:pt x="0" y="6835"/>
                    <a:pt x="6835" y="0"/>
                    <a:pt x="152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541423" cy="2708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72173" y="1682904"/>
            <a:ext cx="699655" cy="6996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1873" y="5143500"/>
            <a:ext cx="699655" cy="69965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91573" y="8871580"/>
            <a:ext cx="699655" cy="69965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931528" y="7591794"/>
            <a:ext cx="4479061" cy="832111"/>
          </a:xfrm>
          <a:custGeom>
            <a:avLst/>
            <a:gdLst/>
            <a:ahLst/>
            <a:cxnLst/>
            <a:rect r="r" b="b" t="t" l="l"/>
            <a:pathLst>
              <a:path h="832111" w="4479061">
                <a:moveTo>
                  <a:pt x="0" y="0"/>
                </a:moveTo>
                <a:lnTo>
                  <a:pt x="4479062" y="0"/>
                </a:lnTo>
                <a:lnTo>
                  <a:pt x="4479062" y="832111"/>
                </a:lnTo>
                <a:lnTo>
                  <a:pt x="0" y="832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5" t="0" r="-177424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971828" y="6119380"/>
            <a:ext cx="5997556" cy="626531"/>
          </a:xfrm>
          <a:custGeom>
            <a:avLst/>
            <a:gdLst/>
            <a:ahLst/>
            <a:cxnLst/>
            <a:rect r="r" b="b" t="t" l="l"/>
            <a:pathLst>
              <a:path h="626531" w="5997556">
                <a:moveTo>
                  <a:pt x="0" y="0"/>
                </a:moveTo>
                <a:lnTo>
                  <a:pt x="5997556" y="0"/>
                </a:lnTo>
                <a:lnTo>
                  <a:pt x="5997556" y="626531"/>
                </a:lnTo>
                <a:lnTo>
                  <a:pt x="0" y="626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08928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151274" y="2649259"/>
            <a:ext cx="10905176" cy="2230130"/>
          </a:xfrm>
          <a:custGeom>
            <a:avLst/>
            <a:gdLst/>
            <a:ahLst/>
            <a:cxnLst/>
            <a:rect r="r" b="b" t="t" l="l"/>
            <a:pathLst>
              <a:path h="2230130" w="10905176">
                <a:moveTo>
                  <a:pt x="0" y="0"/>
                </a:moveTo>
                <a:lnTo>
                  <a:pt x="10905176" y="0"/>
                </a:lnTo>
                <a:lnTo>
                  <a:pt x="10905176" y="2230130"/>
                </a:lnTo>
                <a:lnTo>
                  <a:pt x="0" y="2230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101" r="0" b="-3101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931528" y="6902822"/>
            <a:ext cx="5638472" cy="688972"/>
          </a:xfrm>
          <a:custGeom>
            <a:avLst/>
            <a:gdLst/>
            <a:ahLst/>
            <a:cxnLst/>
            <a:rect r="r" b="b" t="t" l="l"/>
            <a:pathLst>
              <a:path h="688972" w="5638472">
                <a:moveTo>
                  <a:pt x="0" y="0"/>
                </a:moveTo>
                <a:lnTo>
                  <a:pt x="5638472" y="0"/>
                </a:lnTo>
                <a:lnTo>
                  <a:pt x="5638472" y="688972"/>
                </a:lnTo>
                <a:lnTo>
                  <a:pt x="0" y="6889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174" t="-19354" r="-118059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948892" y="382180"/>
            <a:ext cx="8390217" cy="99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Ch</a:t>
            </a:r>
            <a:r>
              <a:rPr lang="en-US" sz="6818" strike="noStrike" u="non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ecking Multicollinearity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64199" y="1816514"/>
            <a:ext cx="643074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Correlation Matrix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31873" y="1734764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23899" y="5096395"/>
            <a:ext cx="655540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Condition Number, average, and maximum value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91573" y="5195360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83599" y="8894065"/>
            <a:ext cx="10513178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Conclusion: NO SIgnificant sign of multicollinearity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51274" y="8923440"/>
            <a:ext cx="780254" cy="5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2759" y="2137240"/>
            <a:ext cx="6000216" cy="4712897"/>
          </a:xfrm>
          <a:custGeom>
            <a:avLst/>
            <a:gdLst/>
            <a:ahLst/>
            <a:cxnLst/>
            <a:rect r="r" b="b" t="t" l="l"/>
            <a:pathLst>
              <a:path h="4712897" w="6000216">
                <a:moveTo>
                  <a:pt x="0" y="0"/>
                </a:moveTo>
                <a:lnTo>
                  <a:pt x="6000216" y="0"/>
                </a:lnTo>
                <a:lnTo>
                  <a:pt x="6000216" y="4712897"/>
                </a:lnTo>
                <a:lnTo>
                  <a:pt x="0" y="4712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44418" y="3261842"/>
            <a:ext cx="9080242" cy="3588295"/>
            <a:chOff x="0" y="0"/>
            <a:chExt cx="2391504" cy="9450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91504" cy="945065"/>
            </a:xfrm>
            <a:custGeom>
              <a:avLst/>
              <a:gdLst/>
              <a:ahLst/>
              <a:cxnLst/>
              <a:rect r="r" b="b" t="t" l="l"/>
              <a:pathLst>
                <a:path h="945065" w="2391504">
                  <a:moveTo>
                    <a:pt x="28989" y="0"/>
                  </a:moveTo>
                  <a:lnTo>
                    <a:pt x="2362515" y="0"/>
                  </a:lnTo>
                  <a:cubicBezTo>
                    <a:pt x="2378525" y="0"/>
                    <a:pt x="2391504" y="12979"/>
                    <a:pt x="2391504" y="28989"/>
                  </a:cubicBezTo>
                  <a:lnTo>
                    <a:pt x="2391504" y="916077"/>
                  </a:lnTo>
                  <a:cubicBezTo>
                    <a:pt x="2391504" y="923765"/>
                    <a:pt x="2388450" y="931138"/>
                    <a:pt x="2383013" y="936575"/>
                  </a:cubicBezTo>
                  <a:cubicBezTo>
                    <a:pt x="2377577" y="942011"/>
                    <a:pt x="2370204" y="945065"/>
                    <a:pt x="2362515" y="945065"/>
                  </a:cubicBezTo>
                  <a:lnTo>
                    <a:pt x="28989" y="945065"/>
                  </a:lnTo>
                  <a:cubicBezTo>
                    <a:pt x="21300" y="945065"/>
                    <a:pt x="13927" y="942011"/>
                    <a:pt x="8491" y="936575"/>
                  </a:cubicBezTo>
                  <a:cubicBezTo>
                    <a:pt x="3054" y="931138"/>
                    <a:pt x="0" y="923765"/>
                    <a:pt x="0" y="916077"/>
                  </a:cubicBezTo>
                  <a:lnTo>
                    <a:pt x="0" y="28989"/>
                  </a:lnTo>
                  <a:cubicBezTo>
                    <a:pt x="0" y="21300"/>
                    <a:pt x="3054" y="13927"/>
                    <a:pt x="8491" y="8491"/>
                  </a:cubicBezTo>
                  <a:cubicBezTo>
                    <a:pt x="13927" y="3054"/>
                    <a:pt x="21300" y="0"/>
                    <a:pt x="289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91504" cy="100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35025" y="3853133"/>
            <a:ext cx="1209314" cy="1218173"/>
          </a:xfrm>
          <a:custGeom>
            <a:avLst/>
            <a:gdLst/>
            <a:ahLst/>
            <a:cxnLst/>
            <a:rect r="r" b="b" t="t" l="l"/>
            <a:pathLst>
              <a:path h="1218173" w="1209314">
                <a:moveTo>
                  <a:pt x="0" y="0"/>
                </a:moveTo>
                <a:lnTo>
                  <a:pt x="1209314" y="0"/>
                </a:lnTo>
                <a:lnTo>
                  <a:pt x="1209314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542620" y="8101649"/>
            <a:ext cx="4782302" cy="4712487"/>
          </a:xfrm>
          <a:custGeom>
            <a:avLst/>
            <a:gdLst/>
            <a:ahLst/>
            <a:cxnLst/>
            <a:rect r="r" b="b" t="t" l="l"/>
            <a:pathLst>
              <a:path h="4712487" w="4782302">
                <a:moveTo>
                  <a:pt x="0" y="0"/>
                </a:moveTo>
                <a:lnTo>
                  <a:pt x="4782302" y="0"/>
                </a:lnTo>
                <a:lnTo>
                  <a:pt x="4782302" y="4712487"/>
                </a:lnTo>
                <a:lnTo>
                  <a:pt x="0" y="47124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52975" y="2105976"/>
            <a:ext cx="4782302" cy="4712487"/>
          </a:xfrm>
          <a:custGeom>
            <a:avLst/>
            <a:gdLst/>
            <a:ahLst/>
            <a:cxnLst/>
            <a:rect r="r" b="b" t="t" l="l"/>
            <a:pathLst>
              <a:path h="4712487" w="4782302">
                <a:moveTo>
                  <a:pt x="0" y="0"/>
                </a:moveTo>
                <a:lnTo>
                  <a:pt x="4782302" y="0"/>
                </a:lnTo>
                <a:lnTo>
                  <a:pt x="4782302" y="4712487"/>
                </a:lnTo>
                <a:lnTo>
                  <a:pt x="0" y="47124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4418" y="7253969"/>
            <a:ext cx="15384606" cy="847680"/>
          </a:xfrm>
          <a:custGeom>
            <a:avLst/>
            <a:gdLst/>
            <a:ahLst/>
            <a:cxnLst/>
            <a:rect r="r" b="b" t="t" l="l"/>
            <a:pathLst>
              <a:path h="847680" w="15384606">
                <a:moveTo>
                  <a:pt x="0" y="0"/>
                </a:moveTo>
                <a:lnTo>
                  <a:pt x="15384605" y="0"/>
                </a:lnTo>
                <a:lnTo>
                  <a:pt x="15384605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947" t="0" r="-31383" b="-2178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55965" y="599936"/>
            <a:ext cx="9696902" cy="116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Model</a:t>
            </a:r>
            <a:r>
              <a:rPr lang="en-US" sz="6818" strike="noStrike" u="non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 Selection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56527" y="3539610"/>
            <a:ext cx="6384045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(BIC-Based Hybrid Approach)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Used a hybrid stepwise method guided by BIC to choose the best predictors.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BIC recommended removing Total Employees and Years Old (low contribution).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Removing them caused no significant drop in Adjusted R², so the simpler model was preferred.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95491" y="1210179"/>
            <a:ext cx="7763809" cy="7650469"/>
          </a:xfrm>
          <a:custGeom>
            <a:avLst/>
            <a:gdLst/>
            <a:ahLst/>
            <a:cxnLst/>
            <a:rect r="r" b="b" t="t" l="l"/>
            <a:pathLst>
              <a:path h="7650469" w="7763809">
                <a:moveTo>
                  <a:pt x="0" y="0"/>
                </a:moveTo>
                <a:lnTo>
                  <a:pt x="7763809" y="0"/>
                </a:lnTo>
                <a:lnTo>
                  <a:pt x="7763809" y="7650469"/>
                </a:lnTo>
                <a:lnTo>
                  <a:pt x="0" y="765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2498" y="4556774"/>
            <a:ext cx="9475067" cy="131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58"/>
              </a:lnSpc>
            </a:pPr>
            <a:r>
              <a:rPr lang="en-US" b="true" sz="9579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PREDICTION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527644" y="2667529"/>
            <a:ext cx="5699502" cy="4735768"/>
          </a:xfrm>
          <a:custGeom>
            <a:avLst/>
            <a:gdLst/>
            <a:ahLst/>
            <a:cxnLst/>
            <a:rect r="r" b="b" t="t" l="l"/>
            <a:pathLst>
              <a:path h="4735768" w="5699502">
                <a:moveTo>
                  <a:pt x="0" y="0"/>
                </a:moveTo>
                <a:lnTo>
                  <a:pt x="5699503" y="0"/>
                </a:lnTo>
                <a:lnTo>
                  <a:pt x="5699503" y="4735768"/>
                </a:lnTo>
                <a:lnTo>
                  <a:pt x="0" y="4735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39035" y="-266828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75767" y="1853812"/>
            <a:ext cx="14310289" cy="6271920"/>
          </a:xfrm>
          <a:custGeom>
            <a:avLst/>
            <a:gdLst/>
            <a:ahLst/>
            <a:cxnLst/>
            <a:rect r="r" b="b" t="t" l="l"/>
            <a:pathLst>
              <a:path h="6271920" w="14310289">
                <a:moveTo>
                  <a:pt x="0" y="0"/>
                </a:moveTo>
                <a:lnTo>
                  <a:pt x="14310289" y="0"/>
                </a:lnTo>
                <a:lnTo>
                  <a:pt x="14310289" y="6271921"/>
                </a:lnTo>
                <a:lnTo>
                  <a:pt x="0" y="62719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744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5549" y="383241"/>
            <a:ext cx="9696902" cy="115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Prediction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6591" y="8382908"/>
            <a:ext cx="1163447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A Bengaluru-based IT Services firm with moderate ratings and strong presence is expected to offer around ₹73,000 per month.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1487" y="796189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39035" y="-2668283"/>
            <a:ext cx="5415627" cy="5336567"/>
          </a:xfrm>
          <a:custGeom>
            <a:avLst/>
            <a:gdLst/>
            <a:ahLst/>
            <a:cxnLst/>
            <a:rect r="r" b="b" t="t" l="l"/>
            <a:pathLst>
              <a:path h="5336567" w="541562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49161" y="2050044"/>
            <a:ext cx="14123896" cy="5911849"/>
          </a:xfrm>
          <a:custGeom>
            <a:avLst/>
            <a:gdLst/>
            <a:ahLst/>
            <a:cxnLst/>
            <a:rect r="r" b="b" t="t" l="l"/>
            <a:pathLst>
              <a:path h="5911849" w="14123896">
                <a:moveTo>
                  <a:pt x="0" y="0"/>
                </a:moveTo>
                <a:lnTo>
                  <a:pt x="14123896" y="0"/>
                </a:lnTo>
                <a:lnTo>
                  <a:pt x="14123896" y="5911849"/>
                </a:lnTo>
                <a:lnTo>
                  <a:pt x="0" y="5911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27" t="0" r="-14461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5549" y="383241"/>
            <a:ext cx="9696902" cy="115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Prediction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9161" y="8409568"/>
            <a:ext cx="1163447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Even with the same company size and rating, firms in Education &amp; Training offer lower salaries compared to tech or consulting industries.</a:t>
            </a: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04117" y="8148954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6218" y="0"/>
                  </a:moveTo>
                  <a:lnTo>
                    <a:pt x="4258508" y="0"/>
                  </a:lnTo>
                  <a:cubicBezTo>
                    <a:pt x="4267465" y="0"/>
                    <a:pt x="4274726" y="7261"/>
                    <a:pt x="4274726" y="16218"/>
                  </a:cubicBezTo>
                  <a:lnTo>
                    <a:pt x="4274726" y="2151249"/>
                  </a:lnTo>
                  <a:cubicBezTo>
                    <a:pt x="4274726" y="2160206"/>
                    <a:pt x="4267465" y="2167467"/>
                    <a:pt x="4258508" y="2167467"/>
                  </a:cubicBezTo>
                  <a:lnTo>
                    <a:pt x="16218" y="2167467"/>
                  </a:lnTo>
                  <a:cubicBezTo>
                    <a:pt x="7261" y="2167467"/>
                    <a:pt x="0" y="2160206"/>
                    <a:pt x="0" y="2151249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75491" y="3003203"/>
            <a:ext cx="9001576" cy="2438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12"/>
              </a:lnSpc>
              <a:spcBef>
                <a:spcPct val="0"/>
              </a:spcBef>
            </a:pPr>
            <a:r>
              <a:rPr lang="en-US" sz="14223" strike="noStrike" u="non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65512" y="3279428"/>
            <a:ext cx="5690498" cy="4573091"/>
          </a:xfrm>
          <a:custGeom>
            <a:avLst/>
            <a:gdLst/>
            <a:ahLst/>
            <a:cxnLst/>
            <a:rect r="r" b="b" t="t" l="l"/>
            <a:pathLst>
              <a:path h="4573091" w="5690498">
                <a:moveTo>
                  <a:pt x="0" y="0"/>
                </a:moveTo>
                <a:lnTo>
                  <a:pt x="5690498" y="0"/>
                </a:lnTo>
                <a:lnTo>
                  <a:pt x="5690498" y="4573091"/>
                </a:lnTo>
                <a:lnTo>
                  <a:pt x="0" y="457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26952" y="-4360440"/>
            <a:ext cx="6081308" cy="5992529"/>
          </a:xfrm>
          <a:custGeom>
            <a:avLst/>
            <a:gdLst/>
            <a:ahLst/>
            <a:cxnLst/>
            <a:rect r="r" b="b" t="t" l="l"/>
            <a:pathLst>
              <a:path h="5992529" w="6081308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DAG62_rAP58</dc:identifier>
  <dcterms:modified xsi:type="dcterms:W3CDTF">2011-08-01T06:04:30Z</dcterms:modified>
  <cp:revision>1</cp:revision>
  <dc:title>Determinants of Salary Packages in Indian Companies: A Multiple Regression Analysis</dc:title>
</cp:coreProperties>
</file>